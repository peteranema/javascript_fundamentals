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72" r:id="rId2"/>
    <p:sldMasterId id="2147483681" r:id="rId3"/>
    <p:sldMasterId id="2147483683" r:id="rId4"/>
  </p:sldMasterIdLst>
  <p:notesMasterIdLst>
    <p:notesMasterId r:id="rId59"/>
  </p:notesMasterIdLst>
  <p:handoutMasterIdLst>
    <p:handoutMasterId r:id="rId60"/>
  </p:handoutMasterIdLst>
  <p:sldIdLst>
    <p:sldId id="264" r:id="rId5"/>
    <p:sldId id="322" r:id="rId6"/>
    <p:sldId id="329" r:id="rId7"/>
    <p:sldId id="328" r:id="rId8"/>
    <p:sldId id="330" r:id="rId9"/>
    <p:sldId id="335" r:id="rId10"/>
    <p:sldId id="331" r:id="rId11"/>
    <p:sldId id="332" r:id="rId12"/>
    <p:sldId id="333" r:id="rId13"/>
    <p:sldId id="357" r:id="rId14"/>
    <p:sldId id="362" r:id="rId15"/>
    <p:sldId id="334" r:id="rId16"/>
    <p:sldId id="353" r:id="rId17"/>
    <p:sldId id="354" r:id="rId18"/>
    <p:sldId id="358" r:id="rId19"/>
    <p:sldId id="355" r:id="rId20"/>
    <p:sldId id="356" r:id="rId21"/>
    <p:sldId id="339" r:id="rId22"/>
    <p:sldId id="363" r:id="rId23"/>
    <p:sldId id="388" r:id="rId24"/>
    <p:sldId id="364" r:id="rId25"/>
    <p:sldId id="340" r:id="rId26"/>
    <p:sldId id="365" r:id="rId27"/>
    <p:sldId id="366" r:id="rId28"/>
    <p:sldId id="385" r:id="rId29"/>
    <p:sldId id="368" r:id="rId30"/>
    <p:sldId id="341" r:id="rId31"/>
    <p:sldId id="369" r:id="rId32"/>
    <p:sldId id="370" r:id="rId33"/>
    <p:sldId id="342" r:id="rId34"/>
    <p:sldId id="371" r:id="rId35"/>
    <p:sldId id="372" r:id="rId36"/>
    <p:sldId id="386" r:id="rId37"/>
    <p:sldId id="343" r:id="rId38"/>
    <p:sldId id="373" r:id="rId39"/>
    <p:sldId id="374" r:id="rId40"/>
    <p:sldId id="375" r:id="rId41"/>
    <p:sldId id="344" r:id="rId42"/>
    <p:sldId id="376" r:id="rId43"/>
    <p:sldId id="377" r:id="rId44"/>
    <p:sldId id="378" r:id="rId45"/>
    <p:sldId id="347" r:id="rId46"/>
    <p:sldId id="379" r:id="rId47"/>
    <p:sldId id="348" r:id="rId48"/>
    <p:sldId id="380" r:id="rId49"/>
    <p:sldId id="387" r:id="rId50"/>
    <p:sldId id="349" r:id="rId51"/>
    <p:sldId id="381" r:id="rId52"/>
    <p:sldId id="350" r:id="rId53"/>
    <p:sldId id="382" r:id="rId54"/>
    <p:sldId id="351" r:id="rId55"/>
    <p:sldId id="384" r:id="rId56"/>
    <p:sldId id="352" r:id="rId57"/>
    <p:sldId id="383" r:id="rId58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ardsectie" id="{953B3D02-7CAB-4B48-BCA2-25D529D60A18}">
          <p14:sldIdLst>
            <p14:sldId id="264"/>
            <p14:sldId id="322"/>
          </p14:sldIdLst>
        </p14:section>
        <p14:section name="Dag 1" id="{24096CC7-320B-334E-A828-000E0EDA3BAC}">
          <p14:sldIdLst>
            <p14:sldId id="329"/>
            <p14:sldId id="328"/>
            <p14:sldId id="330"/>
            <p14:sldId id="335"/>
            <p14:sldId id="331"/>
            <p14:sldId id="332"/>
            <p14:sldId id="333"/>
            <p14:sldId id="357"/>
            <p14:sldId id="362"/>
            <p14:sldId id="334"/>
            <p14:sldId id="353"/>
            <p14:sldId id="354"/>
            <p14:sldId id="358"/>
            <p14:sldId id="355"/>
            <p14:sldId id="356"/>
            <p14:sldId id="339"/>
          </p14:sldIdLst>
        </p14:section>
        <p14:section name="Dag 2" id="{020B6507-0E93-4C44-971C-34456D46D93C}">
          <p14:sldIdLst>
            <p14:sldId id="363"/>
            <p14:sldId id="388"/>
            <p14:sldId id="364"/>
            <p14:sldId id="340"/>
            <p14:sldId id="365"/>
            <p14:sldId id="366"/>
            <p14:sldId id="385"/>
            <p14:sldId id="368"/>
            <p14:sldId id="341"/>
            <p14:sldId id="369"/>
            <p14:sldId id="370"/>
            <p14:sldId id="342"/>
            <p14:sldId id="371"/>
            <p14:sldId id="372"/>
            <p14:sldId id="386"/>
            <p14:sldId id="343"/>
            <p14:sldId id="373"/>
            <p14:sldId id="374"/>
            <p14:sldId id="375"/>
            <p14:sldId id="344"/>
          </p14:sldIdLst>
        </p14:section>
        <p14:section name="Dag 3" id="{57083CEC-557B-4C28-B733-5E44CF291A69}">
          <p14:sldIdLst>
            <p14:sldId id="376"/>
            <p14:sldId id="377"/>
            <p14:sldId id="378"/>
            <p14:sldId id="347"/>
            <p14:sldId id="379"/>
            <p14:sldId id="348"/>
            <p14:sldId id="380"/>
            <p14:sldId id="387"/>
            <p14:sldId id="349"/>
            <p14:sldId id="381"/>
            <p14:sldId id="350"/>
            <p14:sldId id="382"/>
            <p14:sldId id="351"/>
            <p14:sldId id="384"/>
            <p14:sldId id="352"/>
            <p14:sldId id="3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412" userDrawn="1">
          <p15:clr>
            <a:srgbClr val="A4A3A4"/>
          </p15:clr>
        </p15:guide>
        <p15:guide id="2" pos="54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  <a:srgbClr val="DBD6D4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9" autoAdjust="0"/>
    <p:restoredTop sz="84820" autoAdjust="0"/>
  </p:normalViewPr>
  <p:slideViewPr>
    <p:cSldViewPr snapToGrid="0" showGuides="1">
      <p:cViewPr varScale="1">
        <p:scale>
          <a:sx n="114" d="100"/>
          <a:sy n="114" d="100"/>
        </p:scale>
        <p:origin x="1688" y="184"/>
      </p:cViewPr>
      <p:guideLst>
        <p:guide orient="horz" pos="1412"/>
        <p:guide pos="548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0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5" Type="http://schemas.openxmlformats.org/officeDocument/2006/relationships/slide" Target="slides/slide1.xml"/><Relationship Id="rId61" Type="http://schemas.openxmlformats.org/officeDocument/2006/relationships/presProps" Target="pres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189873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074420" y="560072"/>
            <a:ext cx="4944793" cy="370859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281354" y="4431323"/>
            <a:ext cx="6260123" cy="44313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91324271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1074738" y="560388"/>
            <a:ext cx="4945062" cy="37084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96261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tIns="17640"/>
          <a:lstStyle/>
          <a:p>
            <a:pPr eaLnBrk="1">
              <a:lnSpc>
                <a:spcPct val="93000"/>
              </a:lnSpc>
              <a:spcBef>
                <a:spcPct val="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nl-NL" sz="1200">
              <a:latin typeface="Arial" panose="020B0604020202020204" pitchFamily="34" charset="0"/>
              <a:ea typeface="WenQuanYi Micro Hei" charset="0"/>
              <a:cs typeface="WenQuanYi Micro 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194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150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 altLang="nl-NL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52923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150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 altLang="nl-NL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5284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1074738" y="560388"/>
            <a:ext cx="4945062" cy="37084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6136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47698" y="365125"/>
            <a:ext cx="5644054" cy="1325563"/>
          </a:xfrm>
        </p:spPr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247698" y="1825625"/>
            <a:ext cx="5644054" cy="4123230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pic>
        <p:nvPicPr>
          <p:cNvPr id="6" name="Afbeelding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2964968" cy="684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816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47698" y="365125"/>
            <a:ext cx="5644054" cy="1325563"/>
          </a:xfrm>
        </p:spPr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247698" y="1825625"/>
            <a:ext cx="5644054" cy="4123230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pic>
        <p:nvPicPr>
          <p:cNvPr id="5" name="Afbeelding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971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359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47698" y="365125"/>
            <a:ext cx="5644054" cy="1325563"/>
          </a:xfrm>
        </p:spPr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247698" y="1825625"/>
            <a:ext cx="5644054" cy="4123230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pic>
        <p:nvPicPr>
          <p:cNvPr id="5" name="Afbeelding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971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863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47698" y="365125"/>
            <a:ext cx="5644054" cy="1325563"/>
          </a:xfrm>
        </p:spPr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247698" y="1825625"/>
            <a:ext cx="5644054" cy="4123230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pic>
        <p:nvPicPr>
          <p:cNvPr id="5" name="Afbeelding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2974428" cy="686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091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5"/>
          <p:cNvSpPr>
            <a:spLocks noGrp="1"/>
          </p:cNvSpPr>
          <p:nvPr>
            <p:ph type="title"/>
          </p:nvPr>
        </p:nvSpPr>
        <p:spPr>
          <a:xfrm>
            <a:off x="0" y="2280621"/>
            <a:ext cx="9144000" cy="1387737"/>
          </a:xfrm>
          <a:prstGeom prst="rect">
            <a:avLst/>
          </a:prstGeom>
        </p:spPr>
        <p:txBody>
          <a:bodyPr anchor="ctr"/>
          <a:lstStyle>
            <a:lvl1pPr algn="ctr">
              <a:defRPr lang="nl-NL" sz="2800" b="1" kern="1200" cap="none" baseline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nl-NL"/>
              <a:t>Klik om de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295835" y="3281083"/>
            <a:ext cx="8552329" cy="41954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nl-NL" sz="20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Tekst</a:t>
            </a:r>
          </a:p>
        </p:txBody>
      </p:sp>
      <p:sp>
        <p:nvSpPr>
          <p:cNvPr id="5" name="Tijdelijke aanduiding voor dianummer 1"/>
          <p:cNvSpPr>
            <a:spLocks noGrp="1"/>
          </p:cNvSpPr>
          <p:nvPr>
            <p:ph type="sldNum" sz="quarter" idx="4"/>
          </p:nvPr>
        </p:nvSpPr>
        <p:spPr>
          <a:xfrm>
            <a:off x="8675370" y="6492875"/>
            <a:ext cx="4686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D8FE954-EDBC-4F95-881A-2FA294DEFBAB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22147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DFD0C-4F3B-489E-A4A8-2F1258B6720D}" type="datetimeFigureOut">
              <a:rPr lang="nl-NL" smtClean="0"/>
              <a:pPr/>
              <a:t>03-04-2022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25B2B37-1D6A-49E7-9828-CA5048DA937E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9582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1568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9248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032380"/>
          </a:xfrm>
        </p:spPr>
        <p:txBody>
          <a:bodyPr>
            <a:noAutofit/>
          </a:bodyPr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837591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1920875"/>
          </a:xfrm>
        </p:spPr>
        <p:txBody>
          <a:bodyPr/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5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29977" y="4619550"/>
            <a:ext cx="8295838" cy="1260309"/>
          </a:xfrm>
          <a:solidFill>
            <a:schemeClr val="accent1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44000" tIns="144000" rIns="144000" bIns="144000" rtlCol="0" anchor="b">
            <a:spAutoFit/>
          </a:bodyPr>
          <a:lstStyle>
            <a:lvl1pPr marL="0" indent="0" defTabSz="261245">
              <a:spcBef>
                <a:spcPts val="0"/>
              </a:spcBef>
              <a:buNone/>
              <a:defRPr lang="nl-NL" sz="1400" b="1" kern="1200" spc="45" dirty="0">
                <a:solidFill>
                  <a:schemeClr val="bg1"/>
                </a:solidFill>
                <a:latin typeface="Consolas" charset="0"/>
                <a:ea typeface="Consolas" charset="0"/>
                <a:cs typeface="Consolas" charset="0"/>
              </a:defRPr>
            </a:lvl1pPr>
            <a:lvl2pPr>
              <a:defRPr lang="en-US" sz="1633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2pPr>
            <a:lvl3pPr>
              <a:defRPr lang="en-US" sz="1633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3pPr>
            <a:lvl4pPr>
              <a:defRPr lang="en-US" sz="1633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4pPr>
            <a:lvl5pPr>
              <a:defRPr lang="nl-NL" sz="1633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5pPr>
          </a:lstStyle>
          <a:p>
            <a:pPr lvl="0"/>
            <a:r>
              <a:rPr lang="en-US" dirty="0" err="1"/>
              <a:t>Klik</a:t>
            </a:r>
            <a:r>
              <a:rPr lang="en-US" dirty="0"/>
              <a:t> om de </a:t>
            </a:r>
            <a:r>
              <a:rPr lang="en-US" dirty="0" err="1"/>
              <a:t>tekststijl</a:t>
            </a:r>
            <a:r>
              <a:rPr lang="en-US" dirty="0"/>
              <a:t> van het model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bewerken</a:t>
            </a:r>
            <a:endParaRPr lang="en-US" dirty="0"/>
          </a:p>
          <a:p>
            <a:pPr lvl="0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0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0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0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80491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5509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6C9E90F-05AE-4561-8FA8-1AAA0EE8BC5B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9449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8400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13304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47698" y="365125"/>
            <a:ext cx="5644054" cy="1325563"/>
          </a:xfrm>
        </p:spPr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247698" y="1825625"/>
            <a:ext cx="5644054" cy="4123230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pic>
        <p:nvPicPr>
          <p:cNvPr id="4" name="Afbeelding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2974428" cy="686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4656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47698" y="365125"/>
            <a:ext cx="5644054" cy="1325563"/>
          </a:xfrm>
        </p:spPr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247698" y="1825625"/>
            <a:ext cx="5644054" cy="4123230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pic>
        <p:nvPicPr>
          <p:cNvPr id="4" name="Afbeelding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971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2665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47698" y="365125"/>
            <a:ext cx="5644054" cy="1325563"/>
          </a:xfrm>
        </p:spPr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247698" y="1825625"/>
            <a:ext cx="5644054" cy="4123230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pic>
        <p:nvPicPr>
          <p:cNvPr id="4" name="Afbeelding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2974428" cy="686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8295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47698" y="365125"/>
            <a:ext cx="5644054" cy="1325563"/>
          </a:xfrm>
        </p:spPr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247698" y="1825625"/>
            <a:ext cx="5644054" cy="4123230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pic>
        <p:nvPicPr>
          <p:cNvPr id="4" name="Afbeelding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6"/>
            <a:ext cx="2974428" cy="686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7839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47698" y="365125"/>
            <a:ext cx="5644054" cy="1325563"/>
          </a:xfrm>
        </p:spPr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247698" y="1825625"/>
            <a:ext cx="5644054" cy="4123230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pic>
        <p:nvPicPr>
          <p:cNvPr id="4" name="Afbeelding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971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8854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56480" y="1600009"/>
            <a:ext cx="8231040" cy="2188220"/>
          </a:xfrm>
        </p:spPr>
        <p:txBody>
          <a:bodyPr/>
          <a:lstStyle>
            <a:lvl1pPr marL="244758">
              <a:defRPr sz="2400"/>
            </a:lvl1pPr>
            <a:lvl2pPr marL="489834" indent="-244917">
              <a:defRPr sz="2000"/>
            </a:lvl2pPr>
            <a:lvl3pPr>
              <a:defRPr sz="1633"/>
            </a:lvl3pPr>
            <a:lvl4pPr>
              <a:defRPr sz="1270"/>
            </a:lvl4pPr>
            <a:lvl5pPr>
              <a:defRPr sz="1270"/>
            </a:lvl5pPr>
          </a:lstStyle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7" name="Tijdelijke aanduiding voor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5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56481" y="5541032"/>
            <a:ext cx="8295838" cy="1121809"/>
          </a:xfrm>
          <a:solidFill>
            <a:schemeClr val="accent1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44000" tIns="144000" rIns="144000" bIns="144000" rtlCol="0" anchor="b">
            <a:spAutoFit/>
          </a:bodyPr>
          <a:lstStyle>
            <a:lvl1pPr marL="0" indent="0" defTabSz="261245">
              <a:spcBef>
                <a:spcPts val="0"/>
              </a:spcBef>
              <a:buNone/>
              <a:defRPr lang="nl-NL" sz="1200" kern="1200" spc="45" dirty="0">
                <a:solidFill>
                  <a:schemeClr val="bg1"/>
                </a:solidFill>
                <a:latin typeface="Consolas" charset="0"/>
                <a:ea typeface="Consolas" charset="0"/>
                <a:cs typeface="Consolas" charset="0"/>
              </a:defRPr>
            </a:lvl1pPr>
            <a:lvl2pPr>
              <a:defRPr lang="en-US" sz="1633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2pPr>
            <a:lvl3pPr>
              <a:defRPr lang="en-US" sz="1633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3pPr>
            <a:lvl4pPr>
              <a:defRPr lang="en-US" sz="1633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4pPr>
            <a:lvl5pPr>
              <a:defRPr lang="nl-NL" sz="1633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5pPr>
          </a:lstStyle>
          <a:p>
            <a:pPr lvl="0"/>
            <a:r>
              <a:rPr lang="en-US" dirty="0" err="1"/>
              <a:t>Klik</a:t>
            </a:r>
            <a:r>
              <a:rPr lang="en-US" dirty="0"/>
              <a:t> om de </a:t>
            </a:r>
            <a:r>
              <a:rPr lang="en-US" dirty="0" err="1"/>
              <a:t>tekststijl</a:t>
            </a:r>
            <a:r>
              <a:rPr lang="en-US" dirty="0"/>
              <a:t> van het model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bewerken</a:t>
            </a:r>
            <a:endParaRPr lang="en-US" dirty="0"/>
          </a:p>
          <a:p>
            <a:pPr lvl="0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0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0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0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48394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3897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pic>
        <p:nvPicPr>
          <p:cNvPr id="5" name="Afbeelding 4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9924" y="6083486"/>
            <a:ext cx="195893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826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91" r:id="rId5"/>
    <p:sldLayoutId id="214748369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rgbClr val="FF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57188" indent="-357188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595959"/>
          </a:solidFill>
          <a:latin typeface="+mn-lt"/>
          <a:ea typeface="+mn-ea"/>
          <a:cs typeface="+mn-cs"/>
        </a:defRPr>
      </a:lvl1pPr>
      <a:lvl2pPr marL="714375" indent="-357188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−"/>
        <a:defRPr sz="2400" kern="1200">
          <a:solidFill>
            <a:srgbClr val="595959"/>
          </a:solidFill>
          <a:latin typeface="+mn-lt"/>
          <a:ea typeface="+mn-ea"/>
          <a:cs typeface="+mn-cs"/>
        </a:defRPr>
      </a:lvl2pPr>
      <a:lvl3pPr marL="1071563" indent="-3571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95959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95959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3800"/>
            <a:ext cx="9144000" cy="5664200"/>
          </a:xfrm>
          <a:prstGeom prst="rect">
            <a:avLst/>
          </a:prstGeom>
        </p:spPr>
      </p:pic>
      <p:sp>
        <p:nvSpPr>
          <p:cNvPr id="4" name="Rechthoek 3"/>
          <p:cNvSpPr/>
          <p:nvPr userDrawn="1"/>
        </p:nvSpPr>
        <p:spPr>
          <a:xfrm>
            <a:off x="0" y="1193800"/>
            <a:ext cx="3559627" cy="5651214"/>
          </a:xfrm>
          <a:prstGeom prst="rect">
            <a:avLst/>
          </a:prstGeom>
          <a:solidFill>
            <a:schemeClr val="tx1">
              <a:alpha val="68000"/>
            </a:schemeClr>
          </a:solidFill>
          <a:effectLst/>
        </p:spPr>
        <p:txBody>
          <a:bodyPr vert="horz" wrap="square" lIns="324000" tIns="576000" rIns="72000" bIns="576000" anchor="ctr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nl-NL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Bezoekadres:</a:t>
            </a:r>
          </a:p>
          <a:p>
            <a:pPr>
              <a:lnSpc>
                <a:spcPct val="150000"/>
              </a:lnSpc>
            </a:pPr>
            <a:r>
              <a:rPr lang="nl-NL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Marathon 7</a:t>
            </a:r>
          </a:p>
          <a:p>
            <a:pPr>
              <a:lnSpc>
                <a:spcPct val="150000"/>
              </a:lnSpc>
            </a:pPr>
            <a:r>
              <a:rPr lang="nl-NL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1213 PD Hilversum</a:t>
            </a:r>
          </a:p>
          <a:p>
            <a:pPr>
              <a:lnSpc>
                <a:spcPct val="150000"/>
              </a:lnSpc>
            </a:pPr>
            <a:endParaRPr lang="nl-NL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nl-NL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Postadres:</a:t>
            </a:r>
          </a:p>
          <a:p>
            <a:pPr>
              <a:lnSpc>
                <a:spcPct val="150000"/>
              </a:lnSpc>
            </a:pPr>
            <a:r>
              <a:rPr lang="nl-NL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Postbus 447</a:t>
            </a:r>
          </a:p>
          <a:p>
            <a:pPr>
              <a:lnSpc>
                <a:spcPct val="150000"/>
              </a:lnSpc>
            </a:pPr>
            <a:r>
              <a:rPr lang="nl-NL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1200 AK </a:t>
            </a:r>
          </a:p>
          <a:p>
            <a:pPr>
              <a:lnSpc>
                <a:spcPct val="150000"/>
              </a:lnSpc>
            </a:pPr>
            <a:r>
              <a:rPr lang="nl-NL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Hilversum</a:t>
            </a:r>
          </a:p>
          <a:p>
            <a:pPr>
              <a:lnSpc>
                <a:spcPct val="150000"/>
              </a:lnSpc>
            </a:pPr>
            <a:endParaRPr lang="nl-NL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nl-NL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Telefoon: </a:t>
            </a:r>
          </a:p>
          <a:p>
            <a:pPr>
              <a:lnSpc>
                <a:spcPct val="150000"/>
              </a:lnSpc>
            </a:pPr>
            <a:r>
              <a:rPr lang="nl-NL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030 - 2 348 500</a:t>
            </a:r>
          </a:p>
          <a:p>
            <a:pPr>
              <a:lnSpc>
                <a:spcPct val="150000"/>
              </a:lnSpc>
            </a:pPr>
            <a:endParaRPr lang="nl-NL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nl-NL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Internet: </a:t>
            </a:r>
          </a:p>
          <a:p>
            <a:pPr>
              <a:lnSpc>
                <a:spcPct val="150000"/>
              </a:lnSpc>
            </a:pPr>
            <a:r>
              <a:rPr lang="nl-NL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www.computrain.nl</a:t>
            </a:r>
          </a:p>
        </p:txBody>
      </p:sp>
      <p:pic>
        <p:nvPicPr>
          <p:cNvPr id="6" name="Afbeelding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643" y="280948"/>
            <a:ext cx="2350715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781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3800"/>
            <a:ext cx="9144000" cy="5664200"/>
          </a:xfrm>
          <a:prstGeom prst="rect">
            <a:avLst/>
          </a:prstGeom>
        </p:spPr>
      </p:pic>
      <p:pic>
        <p:nvPicPr>
          <p:cNvPr id="5" name="Afbeelding 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643" y="280948"/>
            <a:ext cx="2350715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395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3897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pic>
        <p:nvPicPr>
          <p:cNvPr id="5" name="Afbeelding 4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9924" y="6083486"/>
            <a:ext cx="195893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52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6" r:id="rId2"/>
    <p:sldLayoutId id="2147483699" r:id="rId3"/>
    <p:sldLayoutId id="2147483697" r:id="rId4"/>
    <p:sldLayoutId id="2147483698" r:id="rId5"/>
    <p:sldLayoutId id="2147483700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70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rgbClr val="FF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57188" indent="-357188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rgbClr val="595959"/>
          </a:solidFill>
          <a:latin typeface="+mn-lt"/>
          <a:ea typeface="+mn-ea"/>
          <a:cs typeface="+mn-cs"/>
        </a:defRPr>
      </a:lvl1pPr>
      <a:lvl2pPr marL="714375" indent="-357188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−"/>
        <a:defRPr sz="2000" kern="1200">
          <a:solidFill>
            <a:srgbClr val="595959"/>
          </a:solidFill>
          <a:latin typeface="+mn-lt"/>
          <a:ea typeface="+mn-ea"/>
          <a:cs typeface="+mn-cs"/>
        </a:defRPr>
      </a:lvl2pPr>
      <a:lvl3pPr marL="1071563" indent="-3571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95959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95959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/>
          <p:cNvSpPr/>
          <p:nvPr/>
        </p:nvSpPr>
        <p:spPr>
          <a:xfrm>
            <a:off x="1" y="4692895"/>
            <a:ext cx="4571999" cy="864440"/>
          </a:xfrm>
          <a:prstGeom prst="rect">
            <a:avLst/>
          </a:prstGeom>
          <a:solidFill>
            <a:schemeClr val="tx1">
              <a:alpha val="41000"/>
            </a:schemeClr>
          </a:solidFill>
          <a:effectLst/>
        </p:spPr>
        <p:txBody>
          <a:bodyPr vert="horz" wrap="square" lIns="288000" tIns="72000" rIns="72000" bIns="144000" anchor="ctr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nl-NL" sz="28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Javascript Fundamentals</a:t>
            </a:r>
          </a:p>
        </p:txBody>
      </p:sp>
      <p:sp>
        <p:nvSpPr>
          <p:cNvPr id="5" name="Ondertitel 2"/>
          <p:cNvSpPr txBox="1">
            <a:spLocks/>
          </p:cNvSpPr>
          <p:nvPr/>
        </p:nvSpPr>
        <p:spPr>
          <a:xfrm>
            <a:off x="179393" y="6247633"/>
            <a:ext cx="4220640" cy="41442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altLang="nl-NL"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Docent: Peter Anema</a:t>
            </a:r>
          </a:p>
        </p:txBody>
      </p:sp>
    </p:spTree>
    <p:extLst>
      <p:ext uri="{BB962C8B-B14F-4D97-AF65-F5344CB8AC3E}">
        <p14:creationId xmlns:p14="http://schemas.microsoft.com/office/powerpoint/2010/main" val="1159454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Javascript Fundamentals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idx="1"/>
          </p:nvPr>
        </p:nvSpPr>
        <p:spPr>
          <a:xfrm>
            <a:off x="628650" y="1825625"/>
            <a:ext cx="7886700" cy="4475163"/>
          </a:xfrm>
        </p:spPr>
        <p:txBody>
          <a:bodyPr numCol="2"/>
          <a:lstStyle/>
          <a:p>
            <a:r>
              <a:rPr lang="en-US" altLang="nl-NL" sz="2400" err="1"/>
              <a:t>Javascript</a:t>
            </a:r>
            <a:endParaRPr lang="en-US" altLang="nl-NL" sz="2400"/>
          </a:p>
          <a:p>
            <a:r>
              <a:rPr lang="en-US" altLang="nl-NL" sz="2400"/>
              <a:t>Reserved Words</a:t>
            </a:r>
          </a:p>
          <a:p>
            <a:r>
              <a:rPr lang="en-US" altLang="nl-NL" sz="2400"/>
              <a:t>Data Types</a:t>
            </a:r>
          </a:p>
          <a:p>
            <a:r>
              <a:rPr lang="en-US" altLang="nl-NL" sz="2400"/>
              <a:t>Variables</a:t>
            </a:r>
          </a:p>
          <a:p>
            <a:r>
              <a:rPr lang="en-US" altLang="nl-NL" sz="2400"/>
              <a:t>Date Object</a:t>
            </a:r>
          </a:p>
          <a:p>
            <a:r>
              <a:rPr lang="en-US" altLang="nl-NL" sz="2400"/>
              <a:t>Regular Expressions</a:t>
            </a:r>
          </a:p>
          <a:p>
            <a:r>
              <a:rPr lang="en-US" altLang="nl-NL" sz="2400"/>
              <a:t>Type Conversions</a:t>
            </a:r>
          </a:p>
          <a:p>
            <a:r>
              <a:rPr lang="en-US" altLang="nl-NL" sz="2400"/>
              <a:t>Operators</a:t>
            </a:r>
          </a:p>
          <a:p>
            <a:r>
              <a:rPr lang="en-US" altLang="nl-NL" sz="2400"/>
              <a:t>Conditionals</a:t>
            </a:r>
          </a:p>
          <a:p>
            <a:r>
              <a:rPr lang="en-US" altLang="nl-NL" sz="2400"/>
              <a:t>Loops</a:t>
            </a:r>
          </a:p>
          <a:p>
            <a:endParaRPr lang="en-US" altLang="nl-NL" sz="2400"/>
          </a:p>
          <a:p>
            <a:endParaRPr lang="en-US" altLang="nl-NL" sz="2400"/>
          </a:p>
          <a:p>
            <a:r>
              <a:rPr lang="en-US" altLang="nl-NL" sz="2400"/>
              <a:t>Functions</a:t>
            </a:r>
          </a:p>
          <a:p>
            <a:r>
              <a:rPr lang="en-US" altLang="nl-NL" sz="2400"/>
              <a:t>External JS Files</a:t>
            </a:r>
          </a:p>
          <a:p>
            <a:r>
              <a:rPr lang="en-US" altLang="nl-NL" sz="2400"/>
              <a:t>Arrays</a:t>
            </a:r>
          </a:p>
          <a:p>
            <a:r>
              <a:rPr lang="en-US" altLang="nl-NL" sz="2400"/>
              <a:t>Objects</a:t>
            </a:r>
          </a:p>
          <a:p>
            <a:r>
              <a:rPr lang="en-US" altLang="nl-NL" sz="2400"/>
              <a:t>Object Model</a:t>
            </a:r>
          </a:p>
          <a:p>
            <a:r>
              <a:rPr lang="en-US" altLang="nl-NL" sz="2400"/>
              <a:t>HTML Elements</a:t>
            </a:r>
          </a:p>
          <a:p>
            <a:r>
              <a:rPr lang="en-US" altLang="nl-NL" sz="2400"/>
              <a:t>Events</a:t>
            </a:r>
          </a:p>
          <a:p>
            <a:r>
              <a:rPr lang="en-US" altLang="nl-NL" sz="2400"/>
              <a:t>Timers</a:t>
            </a:r>
          </a:p>
          <a:p>
            <a:r>
              <a:rPr lang="en-US" altLang="nl-NL" sz="2400"/>
              <a:t>Cookies</a:t>
            </a:r>
          </a:p>
          <a:p>
            <a:r>
              <a:rPr lang="en-US" altLang="nl-NL" sz="2400"/>
              <a:t>Images</a:t>
            </a:r>
          </a:p>
          <a:p>
            <a:endParaRPr lang="en-US" altLang="nl-NL" sz="2400"/>
          </a:p>
          <a:p>
            <a:endParaRPr lang="en-US" altLang="nl-NL" sz="2400"/>
          </a:p>
        </p:txBody>
      </p:sp>
    </p:spTree>
    <p:extLst>
      <p:ext uri="{BB962C8B-B14F-4D97-AF65-F5344CB8AC3E}">
        <p14:creationId xmlns:p14="http://schemas.microsoft.com/office/powerpoint/2010/main" val="18625435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Javascript</a:t>
            </a:r>
          </a:p>
        </p:txBody>
      </p:sp>
      <p:sp>
        <p:nvSpPr>
          <p:cNvPr id="5" name="Tijdelijke aanduiding voor inhoud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/>
              <a:t>Front-end development: HTML5, CSS3 en Javascript</a:t>
            </a:r>
          </a:p>
          <a:p>
            <a:endParaRPr lang="nl-NL"/>
          </a:p>
          <a:p>
            <a:r>
              <a:rPr lang="nl-NL"/>
              <a:t>IDE of smart editor: Notepad++</a:t>
            </a:r>
          </a:p>
          <a:p>
            <a:endParaRPr lang="nl-NL"/>
          </a:p>
          <a:p>
            <a:r>
              <a:rPr lang="nl-NL"/>
              <a:t>Moderne browser: Firefox of Opera</a:t>
            </a:r>
          </a:p>
          <a:p>
            <a:endParaRPr lang="nl-NL"/>
          </a:p>
          <a:p>
            <a:r>
              <a:rPr lang="nl-NL"/>
              <a:t>Browser compatibility</a:t>
            </a:r>
          </a:p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5283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Script tag</a:t>
            </a:r>
          </a:p>
        </p:txBody>
      </p:sp>
      <p:sp>
        <p:nvSpPr>
          <p:cNvPr id="20482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nl-NL"/>
              <a:t>HTML-tag   &lt;script&gt; </a:t>
            </a:r>
            <a:r>
              <a:rPr lang="is-IS" altLang="nl-NL"/>
              <a:t>… &lt;/script&gt;</a:t>
            </a:r>
            <a:endParaRPr lang="en-US" altLang="nl-NL"/>
          </a:p>
        </p:txBody>
      </p:sp>
      <p:sp>
        <p:nvSpPr>
          <p:cNvPr id="2" name="Tijdelijke aanduiding voor tekst 1"/>
          <p:cNvSpPr>
            <a:spLocks noGrp="1"/>
          </p:cNvSpPr>
          <p:nvPr>
            <p:ph type="body" sz="quarter" idx="10"/>
          </p:nvPr>
        </p:nvSpPr>
        <p:spPr>
          <a:xfrm>
            <a:off x="424081" y="5426678"/>
            <a:ext cx="8295838" cy="484712"/>
          </a:xfrm>
        </p:spPr>
        <p:txBody>
          <a:bodyPr/>
          <a:lstStyle/>
          <a:p>
            <a:r>
              <a:rPr lang="nl-NL"/>
              <a:t>&lt;script </a:t>
            </a:r>
            <a:r>
              <a:rPr lang="nl-NL" err="1"/>
              <a:t>src</a:t>
            </a:r>
            <a:r>
              <a:rPr lang="nl-NL"/>
              <a:t>=</a:t>
            </a:r>
            <a:r>
              <a:rPr lang="en-US"/>
              <a:t>"</a:t>
            </a:r>
            <a:r>
              <a:rPr lang="en-US" err="1"/>
              <a:t>javascript_document.js</a:t>
            </a:r>
            <a:r>
              <a:rPr lang="en-US"/>
              <a:t>"</a:t>
            </a:r>
            <a:r>
              <a:rPr lang="nl-NL"/>
              <a:t>&gt;&lt;/script&gt;</a:t>
            </a:r>
          </a:p>
        </p:txBody>
      </p:sp>
      <p:sp>
        <p:nvSpPr>
          <p:cNvPr id="5" name="Tijdelijke aanduiding voor tekst 1"/>
          <p:cNvSpPr txBox="1">
            <a:spLocks/>
          </p:cNvSpPr>
          <p:nvPr/>
        </p:nvSpPr>
        <p:spPr>
          <a:xfrm>
            <a:off x="424081" y="2858074"/>
            <a:ext cx="8295838" cy="22298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144000" tIns="144000" rIns="144000" bIns="144000" rtlCol="0" anchor="b">
            <a:spAutoFit/>
          </a:bodyPr>
          <a:lstStyle>
            <a:lvl1pPr marL="0" indent="0" algn="l" defTabSz="261245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nl-NL" sz="1200" kern="1200" spc="45" dirty="0">
                <a:solidFill>
                  <a:schemeClr val="bg1"/>
                </a:solidFill>
                <a:latin typeface="Consolas" charset="0"/>
                <a:ea typeface="Consolas" charset="0"/>
                <a:cs typeface="Consolas" charset="0"/>
              </a:defRPr>
            </a:lvl1pPr>
            <a:lvl2pPr marL="714375" indent="-357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2pPr>
            <a:lvl3pPr marL="1071563" indent="-357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NL" sz="1633" kern="1200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400" b="1"/>
              <a:t>&lt;script type=</a:t>
            </a:r>
            <a:r>
              <a:rPr lang="en-US" sz="1400" b="1"/>
              <a:t>"text/</a:t>
            </a:r>
            <a:r>
              <a:rPr lang="en-US" sz="1400" b="1" err="1"/>
              <a:t>javascript</a:t>
            </a:r>
            <a:r>
              <a:rPr lang="en-US" sz="1400" b="1"/>
              <a:t>"</a:t>
            </a:r>
            <a:r>
              <a:rPr lang="nl-NL" sz="1400" b="1"/>
              <a:t>&gt;</a:t>
            </a:r>
          </a:p>
          <a:p>
            <a:endParaRPr lang="nl-NL" sz="1400" b="1"/>
          </a:p>
          <a:p>
            <a:r>
              <a:rPr lang="nl-NL" sz="1400" b="1"/>
              <a:t>/* </a:t>
            </a:r>
          </a:p>
          <a:p>
            <a:r>
              <a:rPr lang="nl-NL" sz="1400" b="1"/>
              <a:t> * Dit is commentaar </a:t>
            </a:r>
          </a:p>
          <a:p>
            <a:r>
              <a:rPr lang="nl-NL" sz="1400" b="1"/>
              <a:t> * met meerdere regels </a:t>
            </a:r>
          </a:p>
          <a:p>
            <a:r>
              <a:rPr lang="nl-NL" sz="1400" b="1"/>
              <a:t> */</a:t>
            </a:r>
          </a:p>
          <a:p>
            <a:endParaRPr lang="nl-NL" sz="1400" b="1"/>
          </a:p>
          <a:p>
            <a:r>
              <a:rPr lang="nl-NL" sz="1400" b="1"/>
              <a:t>   javascript statement;      // dit is ook commentaar !!!</a:t>
            </a:r>
          </a:p>
          <a:p>
            <a:r>
              <a:rPr lang="nl-NL" sz="1400" b="1"/>
              <a:t>   javascript statement;</a:t>
            </a:r>
          </a:p>
          <a:p>
            <a:r>
              <a:rPr lang="nl-NL" sz="1400" b="1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40662574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/>
              <a:t>Output</a:t>
            </a:r>
          </a:p>
        </p:txBody>
      </p:sp>
      <p:sp>
        <p:nvSpPr>
          <p:cNvPr id="20482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nl-NL"/>
              <a:t>document.write()</a:t>
            </a:r>
          </a:p>
          <a:p>
            <a:r>
              <a:rPr lang="en-US" altLang="nl-NL"/>
              <a:t>window.alert()</a:t>
            </a:r>
          </a:p>
        </p:txBody>
      </p:sp>
      <p:sp>
        <p:nvSpPr>
          <p:cNvPr id="2" name="Tijdelijke aanduiding voor tekst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nl-NL"/>
              <a:t>&lt;script type=</a:t>
            </a:r>
            <a:r>
              <a:rPr lang="en-US"/>
              <a:t>"text/javascript"</a:t>
            </a:r>
            <a:r>
              <a:rPr lang="nl-NL"/>
              <a:t>&gt;</a:t>
            </a:r>
          </a:p>
          <a:p>
            <a:r>
              <a:rPr lang="nl-NL"/>
              <a:t>	</a:t>
            </a:r>
          </a:p>
          <a:p>
            <a:r>
              <a:rPr lang="nl-NL"/>
              <a:t>	</a:t>
            </a:r>
            <a:r>
              <a:rPr lang="en-US"/>
              <a:t>window.alert("Tekst in een dialoogvenster\nMet nog een regel!");</a:t>
            </a:r>
            <a:endParaRPr lang="nl-NL"/>
          </a:p>
          <a:p>
            <a:endParaRPr lang="nl-NL"/>
          </a:p>
          <a:p>
            <a:r>
              <a:rPr lang="nl-NL"/>
              <a:t>&lt;/script&gt;</a:t>
            </a:r>
          </a:p>
        </p:txBody>
      </p:sp>
      <p:sp>
        <p:nvSpPr>
          <p:cNvPr id="5" name="Tijdelijke aanduiding voor tekst 1"/>
          <p:cNvSpPr txBox="1">
            <a:spLocks/>
          </p:cNvSpPr>
          <p:nvPr/>
        </p:nvSpPr>
        <p:spPr>
          <a:xfrm>
            <a:off x="439071" y="3019079"/>
            <a:ext cx="8295838" cy="145420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144000" tIns="144000" rIns="144000" bIns="144000" rtlCol="0" anchor="b">
            <a:spAutoFit/>
          </a:bodyPr>
          <a:lstStyle>
            <a:lvl1pPr marL="0" indent="0" algn="l" defTabSz="261245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nl-NL" sz="1200" kern="1200" spc="45" dirty="0">
                <a:solidFill>
                  <a:schemeClr val="bg1"/>
                </a:solidFill>
                <a:latin typeface="Consolas" charset="0"/>
                <a:ea typeface="Consolas" charset="0"/>
                <a:cs typeface="Consolas" charset="0"/>
              </a:defRPr>
            </a:lvl1pPr>
            <a:lvl2pPr marL="714375" indent="-357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2pPr>
            <a:lvl3pPr marL="1071563" indent="-357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NL" sz="1633" kern="1200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400" b="1"/>
              <a:t>&lt;script type=</a:t>
            </a:r>
            <a:r>
              <a:rPr lang="en-US" sz="1400" b="1"/>
              <a:t>"text/</a:t>
            </a:r>
            <a:r>
              <a:rPr lang="en-US" sz="1400" b="1" err="1"/>
              <a:t>javascript</a:t>
            </a:r>
            <a:r>
              <a:rPr lang="en-US" sz="1400" b="1"/>
              <a:t>"</a:t>
            </a:r>
            <a:r>
              <a:rPr lang="nl-NL" sz="1400" b="1"/>
              <a:t>&gt;</a:t>
            </a:r>
          </a:p>
          <a:p>
            <a:r>
              <a:rPr lang="nl-NL" sz="1400" b="1"/>
              <a:t>	</a:t>
            </a:r>
          </a:p>
          <a:p>
            <a:r>
              <a:rPr lang="nl-NL" sz="1400" b="1"/>
              <a:t>	</a:t>
            </a:r>
            <a:r>
              <a:rPr lang="nl-NL" sz="1400" b="1" err="1"/>
              <a:t>document.write</a:t>
            </a:r>
            <a:r>
              <a:rPr lang="nl-NL" sz="1400" b="1"/>
              <a:t>(</a:t>
            </a:r>
            <a:r>
              <a:rPr lang="en-US" sz="1400" b="1"/>
              <a:t>"</a:t>
            </a:r>
            <a:r>
              <a:rPr lang="en-US" sz="1400" b="1" err="1"/>
              <a:t>Tekst</a:t>
            </a:r>
            <a:r>
              <a:rPr lang="en-US" sz="1400" b="1"/>
              <a:t> op het document"</a:t>
            </a:r>
            <a:r>
              <a:rPr lang="nl-NL" sz="1400" b="1"/>
              <a:t>);</a:t>
            </a:r>
          </a:p>
          <a:p>
            <a:r>
              <a:rPr lang="nl-NL" sz="1400" b="1"/>
              <a:t>	</a:t>
            </a:r>
            <a:r>
              <a:rPr lang="nl-NL" sz="1400" b="1" err="1"/>
              <a:t>document.write</a:t>
            </a:r>
            <a:r>
              <a:rPr lang="nl-NL" sz="1400" b="1"/>
              <a:t>(</a:t>
            </a:r>
            <a:r>
              <a:rPr lang="en-US" sz="1400" b="1"/>
              <a:t>"&lt;</a:t>
            </a:r>
            <a:r>
              <a:rPr lang="en-US" sz="1400" b="1" err="1"/>
              <a:t>br</a:t>
            </a:r>
            <a:r>
              <a:rPr lang="en-US" sz="1400" b="1"/>
              <a:t>&gt;</a:t>
            </a:r>
            <a:r>
              <a:rPr lang="en-US" sz="1400" b="1" err="1"/>
              <a:t>Gebruik</a:t>
            </a:r>
            <a:r>
              <a:rPr lang="en-US" sz="1400" b="1"/>
              <a:t> </a:t>
            </a:r>
            <a:r>
              <a:rPr lang="en-US" sz="1400" b="1" err="1"/>
              <a:t>hier</a:t>
            </a:r>
            <a:r>
              <a:rPr lang="en-US" sz="1400" b="1"/>
              <a:t> HTML!!"</a:t>
            </a:r>
            <a:r>
              <a:rPr lang="nl-NL" sz="1400" b="1"/>
              <a:t>);</a:t>
            </a:r>
          </a:p>
          <a:p>
            <a:endParaRPr lang="nl-NL" sz="1400" b="1"/>
          </a:p>
          <a:p>
            <a:r>
              <a:rPr lang="nl-NL" sz="1400" b="1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1362557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Oefening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Oefening 1: Javascript Fundamentals</a:t>
            </a:r>
            <a:br>
              <a:rPr lang="nl-NL" dirty="0"/>
            </a:br>
            <a:r>
              <a:rPr lang="nl-NL" dirty="0"/>
              <a:t>blz. 113 - 114</a:t>
            </a:r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57" y="5228627"/>
            <a:ext cx="1296987" cy="125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0158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Variabelen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2928862"/>
          </a:xfrm>
        </p:spPr>
        <p:txBody>
          <a:bodyPr>
            <a:normAutofit/>
          </a:bodyPr>
          <a:lstStyle/>
          <a:p>
            <a:r>
              <a:rPr lang="nl-NL" err="1"/>
              <a:t>window.prompt</a:t>
            </a:r>
            <a:r>
              <a:rPr lang="nl-NL"/>
              <a:t>()</a:t>
            </a:r>
          </a:p>
          <a:p>
            <a:r>
              <a:rPr lang="nl-NL" err="1"/>
              <a:t>Assignment</a:t>
            </a:r>
            <a:r>
              <a:rPr lang="nl-NL"/>
              <a:t> met </a:t>
            </a:r>
            <a:r>
              <a:rPr lang="en-US"/>
              <a:t>'</a:t>
            </a:r>
            <a:r>
              <a:rPr lang="nl-NL"/>
              <a:t>=</a:t>
            </a:r>
            <a:r>
              <a:rPr lang="en-US"/>
              <a:t>'</a:t>
            </a:r>
            <a:endParaRPr lang="nl-NL"/>
          </a:p>
          <a:p>
            <a:r>
              <a:rPr lang="nl-NL"/>
              <a:t>Naam: hoofdlettergevoelig</a:t>
            </a:r>
          </a:p>
          <a:p>
            <a:r>
              <a:rPr lang="nl-NL"/>
              <a:t>Type: getallen, tekst, </a:t>
            </a:r>
            <a:r>
              <a:rPr lang="nl-NL" err="1"/>
              <a:t>boolean</a:t>
            </a:r>
            <a:r>
              <a:rPr lang="nl-NL"/>
              <a:t> (</a:t>
            </a:r>
            <a:r>
              <a:rPr lang="nl-NL" err="1"/>
              <a:t>true</a:t>
            </a:r>
            <a:r>
              <a:rPr lang="nl-NL"/>
              <a:t> of </a:t>
            </a:r>
            <a:r>
              <a:rPr lang="nl-NL" err="1"/>
              <a:t>false</a:t>
            </a:r>
            <a:r>
              <a:rPr lang="nl-NL"/>
              <a:t>)</a:t>
            </a:r>
          </a:p>
          <a:p>
            <a:r>
              <a:rPr lang="nl-NL"/>
              <a:t>Declaratie met </a:t>
            </a:r>
            <a:r>
              <a:rPr lang="en-US"/>
              <a:t>'</a:t>
            </a:r>
            <a:r>
              <a:rPr lang="nl-NL"/>
              <a:t>var</a:t>
            </a:r>
            <a:r>
              <a:rPr lang="en-US"/>
              <a:t>'</a:t>
            </a:r>
          </a:p>
          <a:p>
            <a:r>
              <a:rPr lang="en-US"/>
              <a:t>Undefined, null</a:t>
            </a:r>
            <a:endParaRPr lang="nl-NL"/>
          </a:p>
          <a:p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29977" y="4813450"/>
            <a:ext cx="8295838" cy="1066409"/>
          </a:xfrm>
        </p:spPr>
        <p:txBody>
          <a:bodyPr/>
          <a:lstStyle/>
          <a:p>
            <a:r>
              <a:rPr lang="nl-NL"/>
              <a:t>var beroep;</a:t>
            </a:r>
          </a:p>
          <a:p>
            <a:endParaRPr lang="nl-NL"/>
          </a:p>
          <a:p>
            <a:r>
              <a:rPr lang="nl-NL"/>
              <a:t>beroep = </a:t>
            </a:r>
            <a:r>
              <a:rPr lang="nl-NL" err="1"/>
              <a:t>window.prompt</a:t>
            </a:r>
            <a:r>
              <a:rPr lang="nl-NL"/>
              <a:t>(</a:t>
            </a:r>
            <a:r>
              <a:rPr lang="en-US"/>
              <a:t>"</a:t>
            </a:r>
            <a:r>
              <a:rPr lang="en-US" err="1"/>
              <a:t>Vul</a:t>
            </a:r>
            <a:r>
              <a:rPr lang="en-US"/>
              <a:t> </a:t>
            </a:r>
            <a:r>
              <a:rPr lang="en-US" err="1"/>
              <a:t>uw</a:t>
            </a:r>
            <a:r>
              <a:rPr lang="en-US"/>
              <a:t> </a:t>
            </a:r>
            <a:r>
              <a:rPr lang="en-US" err="1"/>
              <a:t>beroep</a:t>
            </a:r>
            <a:r>
              <a:rPr lang="en-US"/>
              <a:t> in"</a:t>
            </a:r>
            <a:r>
              <a:rPr lang="nl-NL"/>
              <a:t>);</a:t>
            </a:r>
          </a:p>
          <a:p>
            <a:r>
              <a:rPr lang="nl-NL" err="1"/>
              <a:t>document.write</a:t>
            </a:r>
            <a:r>
              <a:rPr lang="nl-NL"/>
              <a:t>(</a:t>
            </a:r>
            <a:r>
              <a:rPr lang="en-US"/>
              <a:t>"</a:t>
            </a:r>
            <a:r>
              <a:rPr lang="en-US" err="1"/>
              <a:t>Uw</a:t>
            </a:r>
            <a:r>
              <a:rPr lang="en-US"/>
              <a:t> </a:t>
            </a:r>
            <a:r>
              <a:rPr lang="en-US" err="1"/>
              <a:t>beroep</a:t>
            </a:r>
            <a:r>
              <a:rPr lang="en-US"/>
              <a:t> is: " + </a:t>
            </a:r>
            <a:r>
              <a:rPr lang="en-US" err="1"/>
              <a:t>beroep</a:t>
            </a:r>
            <a:r>
              <a:rPr lang="nl-NL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456152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Numerieke operatoren</a:t>
            </a:r>
          </a:p>
        </p:txBody>
      </p:sp>
      <p:graphicFrame>
        <p:nvGraphicFramePr>
          <p:cNvPr id="5" name="Tijdelijke aanduiding voor inhoud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1683904"/>
              </p:ext>
            </p:extLst>
          </p:nvPr>
        </p:nvGraphicFramePr>
        <p:xfrm>
          <a:off x="628650" y="1690688"/>
          <a:ext cx="78867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++     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Increment, </a:t>
                      </a:r>
                      <a:r>
                        <a:rPr lang="nl-NL" err="1"/>
                        <a:t>decrement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*    /   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err="1"/>
                        <a:t>Vermenigvulding</a:t>
                      </a:r>
                      <a:r>
                        <a:rPr lang="nl-NL"/>
                        <a:t>, delen, modulus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+   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optellen, aftrekken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*=     /=     %=     +=     -=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toekenningsoperatoren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29977" y="4425651"/>
            <a:ext cx="8295838" cy="1454208"/>
          </a:xfrm>
        </p:spPr>
        <p:txBody>
          <a:bodyPr/>
          <a:lstStyle/>
          <a:p>
            <a:r>
              <a:rPr lang="nl-NL" sz="1400" b="1"/>
              <a:t>var x = 3;</a:t>
            </a:r>
          </a:p>
          <a:p>
            <a:r>
              <a:rPr lang="nl-NL" sz="1400" b="1"/>
              <a:t>var y;</a:t>
            </a:r>
          </a:p>
          <a:p>
            <a:endParaRPr lang="nl-NL" sz="1400" b="1"/>
          </a:p>
          <a:p>
            <a:r>
              <a:rPr lang="nl-NL" sz="1400" b="1"/>
              <a:t>y = (8 * x + 1) % 5;    // y wordt 0</a:t>
            </a:r>
          </a:p>
          <a:p>
            <a:r>
              <a:rPr lang="nl-NL" sz="1400" b="1"/>
              <a:t>y += 1;                 // y wordt 1</a:t>
            </a:r>
          </a:p>
          <a:p>
            <a:r>
              <a:rPr lang="nl-NL" sz="1400" b="1"/>
              <a:t>y ++;                   // y wordt 2</a:t>
            </a:r>
          </a:p>
        </p:txBody>
      </p:sp>
    </p:spTree>
    <p:extLst>
      <p:ext uri="{BB962C8B-B14F-4D97-AF65-F5344CB8AC3E}">
        <p14:creationId xmlns:p14="http://schemas.microsoft.com/office/powerpoint/2010/main" val="1320531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String concatenation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/>
              <a:t>Concatenation met </a:t>
            </a:r>
            <a:r>
              <a:rPr lang="en-US"/>
              <a:t>'+'</a:t>
            </a:r>
          </a:p>
          <a:p>
            <a:r>
              <a:rPr lang="en-US"/>
              <a:t>parseInt() en parseFloat()</a:t>
            </a:r>
          </a:p>
          <a:p>
            <a:r>
              <a:rPr lang="en-US"/>
              <a:t>String()</a:t>
            </a:r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29977" y="4813450"/>
            <a:ext cx="8295838" cy="1066409"/>
          </a:xfrm>
        </p:spPr>
        <p:txBody>
          <a:bodyPr/>
          <a:lstStyle/>
          <a:p>
            <a:r>
              <a:rPr lang="nl-NL"/>
              <a:t>var invoer = </a:t>
            </a:r>
            <a:r>
              <a:rPr lang="nl-NL" err="1"/>
              <a:t>window.prompt</a:t>
            </a:r>
            <a:r>
              <a:rPr lang="nl-NL"/>
              <a:t>(</a:t>
            </a:r>
            <a:r>
              <a:rPr lang="en-US"/>
              <a:t>"Hoe oud bent u?"</a:t>
            </a:r>
            <a:r>
              <a:rPr lang="nl-NL"/>
              <a:t>);</a:t>
            </a:r>
          </a:p>
          <a:p>
            <a:r>
              <a:rPr lang="nl-NL"/>
              <a:t>var leeftijd = </a:t>
            </a:r>
            <a:r>
              <a:rPr lang="nl-NL" err="1"/>
              <a:t>parseInt</a:t>
            </a:r>
            <a:r>
              <a:rPr lang="nl-NL"/>
              <a:t>(invoer) + 10;</a:t>
            </a:r>
          </a:p>
          <a:p>
            <a:endParaRPr lang="nl-NL"/>
          </a:p>
          <a:p>
            <a:r>
              <a:rPr lang="nl-NL" err="1"/>
              <a:t>window.alert</a:t>
            </a:r>
            <a:r>
              <a:rPr lang="nl-NL"/>
              <a:t>(</a:t>
            </a:r>
            <a:r>
              <a:rPr lang="en-US"/>
              <a:t>"Over 10 </a:t>
            </a:r>
            <a:r>
              <a:rPr lang="en-US" err="1"/>
              <a:t>jaar</a:t>
            </a:r>
            <a:r>
              <a:rPr lang="en-US"/>
              <a:t> bent u " + </a:t>
            </a:r>
            <a:r>
              <a:rPr lang="en-US" err="1"/>
              <a:t>leeftijd</a:t>
            </a:r>
            <a:r>
              <a:rPr lang="nl-NL"/>
              <a:t>);</a:t>
            </a:r>
          </a:p>
        </p:txBody>
      </p:sp>
      <p:sp>
        <p:nvSpPr>
          <p:cNvPr id="5" name="Tijdelijke aanduiding voor tekst 3"/>
          <p:cNvSpPr txBox="1">
            <a:spLocks/>
          </p:cNvSpPr>
          <p:nvPr/>
        </p:nvSpPr>
        <p:spPr>
          <a:xfrm>
            <a:off x="424081" y="3458300"/>
            <a:ext cx="8295838" cy="106640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144000" tIns="144000" rIns="144000" bIns="144000" rtlCol="0" anchor="b">
            <a:spAutoFit/>
          </a:bodyPr>
          <a:lstStyle>
            <a:lvl1pPr marL="0" indent="0" algn="l" defTabSz="261245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nl-NL" sz="1200" kern="1200" spc="45" dirty="0">
                <a:solidFill>
                  <a:schemeClr val="bg1"/>
                </a:solidFill>
                <a:latin typeface="Consolas" charset="0"/>
                <a:ea typeface="Consolas" charset="0"/>
                <a:cs typeface="Consolas" charset="0"/>
              </a:defRPr>
            </a:lvl1pPr>
            <a:lvl2pPr marL="714375" indent="-357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2pPr>
            <a:lvl3pPr marL="1071563" indent="-357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NL" sz="1633" kern="1200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400" b="1"/>
              <a:t>var voornaam = </a:t>
            </a:r>
            <a:r>
              <a:rPr lang="en-US" sz="1400" b="1"/>
              <a:t>"Albert";</a:t>
            </a:r>
          </a:p>
          <a:p>
            <a:r>
              <a:rPr lang="en-US" sz="1400" b="1" err="1"/>
              <a:t>var</a:t>
            </a:r>
            <a:r>
              <a:rPr lang="en-US" sz="1400" b="1"/>
              <a:t> </a:t>
            </a:r>
            <a:r>
              <a:rPr lang="en-US" sz="1400" b="1" err="1"/>
              <a:t>achternaam</a:t>
            </a:r>
            <a:r>
              <a:rPr lang="en-US" sz="1400" b="1"/>
              <a:t> = "Einstein";</a:t>
            </a:r>
          </a:p>
          <a:p>
            <a:endParaRPr lang="en-US" sz="1400" b="1"/>
          </a:p>
          <a:p>
            <a:r>
              <a:rPr lang="en-US" sz="1400" b="1" err="1"/>
              <a:t>window.alert</a:t>
            </a:r>
            <a:r>
              <a:rPr lang="en-US" sz="1400" b="1"/>
              <a:t>("Hallo, " + </a:t>
            </a:r>
            <a:r>
              <a:rPr lang="en-US" sz="1400" b="1" err="1"/>
              <a:t>voornaam</a:t>
            </a:r>
            <a:r>
              <a:rPr lang="en-US" sz="1400" b="1"/>
              <a:t> + " " + </a:t>
            </a:r>
            <a:r>
              <a:rPr lang="en-US" sz="1400" b="1" err="1"/>
              <a:t>achternaam</a:t>
            </a:r>
            <a:r>
              <a:rPr lang="en-US" sz="1400" b="1"/>
              <a:t>);</a:t>
            </a:r>
            <a:endParaRPr lang="nl-NL" sz="1400" b="1"/>
          </a:p>
        </p:txBody>
      </p:sp>
    </p:spTree>
    <p:extLst>
      <p:ext uri="{BB962C8B-B14F-4D97-AF65-F5344CB8AC3E}">
        <p14:creationId xmlns:p14="http://schemas.microsoft.com/office/powerpoint/2010/main" val="937631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Oefening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Oefening 2: Elementaire variabelen</a:t>
            </a:r>
            <a:br>
              <a:rPr lang="nl-NL" dirty="0"/>
            </a:br>
            <a:r>
              <a:rPr lang="nl-NL" dirty="0"/>
              <a:t>blz. 115</a:t>
            </a:r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57" y="5228627"/>
            <a:ext cx="1296987" cy="125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8538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4309" y="1038042"/>
            <a:ext cx="4781915" cy="4781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9537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Beslissingsstructuren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err="1"/>
              <a:t>if</a:t>
            </a:r>
            <a:r>
              <a:rPr lang="nl-NL"/>
              <a:t>-statement</a:t>
            </a:r>
          </a:p>
          <a:p>
            <a:r>
              <a:rPr lang="nl-NL"/>
              <a:t>Relationele operatoren</a:t>
            </a:r>
          </a:p>
          <a:p>
            <a:r>
              <a:rPr lang="nl-NL" err="1"/>
              <a:t>Boolean</a:t>
            </a:r>
            <a:r>
              <a:rPr lang="nl-NL"/>
              <a:t> operatoren</a:t>
            </a:r>
          </a:p>
          <a:p>
            <a:r>
              <a:rPr lang="nl-NL" err="1"/>
              <a:t>window.confirm</a:t>
            </a:r>
            <a:r>
              <a:rPr lang="nl-NL"/>
              <a:t>()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29977" y="4425651"/>
            <a:ext cx="8295838" cy="1454208"/>
          </a:xfrm>
        </p:spPr>
        <p:txBody>
          <a:bodyPr/>
          <a:lstStyle/>
          <a:p>
            <a:r>
              <a:rPr lang="nl-NL" sz="1400" b="1" err="1"/>
              <a:t>if</a:t>
            </a:r>
            <a:r>
              <a:rPr lang="nl-NL" sz="1400" b="1"/>
              <a:t> (leeftijd &gt; 65 || (leeftijd =&gt; 3 &amp;&amp; leeftijd &lt;= 12)) {</a:t>
            </a:r>
          </a:p>
          <a:p>
            <a:r>
              <a:rPr lang="nl-NL" sz="1400" b="1"/>
              <a:t>	</a:t>
            </a:r>
            <a:r>
              <a:rPr lang="nl-NL" sz="1400" b="1" err="1"/>
              <a:t>window.alert</a:t>
            </a:r>
            <a:r>
              <a:rPr lang="nl-NL" sz="1400" b="1"/>
              <a:t>(</a:t>
            </a:r>
            <a:r>
              <a:rPr lang="en-US" sz="1400" b="1"/>
              <a:t>"</a:t>
            </a:r>
            <a:r>
              <a:rPr lang="en-US" sz="1400" b="1" err="1"/>
              <a:t>Kortingskaart</a:t>
            </a:r>
            <a:r>
              <a:rPr lang="en-US" sz="1400" b="1"/>
              <a:t>!"</a:t>
            </a:r>
            <a:r>
              <a:rPr lang="nl-NL" sz="1400" b="1"/>
              <a:t>);</a:t>
            </a:r>
          </a:p>
          <a:p>
            <a:r>
              <a:rPr lang="nl-NL" sz="1400" b="1"/>
              <a:t>}</a:t>
            </a:r>
          </a:p>
          <a:p>
            <a:r>
              <a:rPr lang="nl-NL" sz="1400" b="1" err="1"/>
              <a:t>else</a:t>
            </a:r>
            <a:r>
              <a:rPr lang="nl-NL" sz="1400" b="1"/>
              <a:t> {</a:t>
            </a:r>
          </a:p>
          <a:p>
            <a:r>
              <a:rPr lang="nl-NL" sz="1400" b="1"/>
              <a:t>	</a:t>
            </a:r>
            <a:r>
              <a:rPr lang="nl-NL" sz="1400" b="1" err="1"/>
              <a:t>window.alert</a:t>
            </a:r>
            <a:r>
              <a:rPr lang="nl-NL" sz="1400" b="1"/>
              <a:t>(</a:t>
            </a:r>
            <a:r>
              <a:rPr lang="en-US" sz="1400" b="1"/>
              <a:t>"</a:t>
            </a:r>
            <a:r>
              <a:rPr lang="en-US" sz="1400" b="1" err="1"/>
              <a:t>Helaas</a:t>
            </a:r>
            <a:r>
              <a:rPr lang="en-US" sz="1400" b="1"/>
              <a:t> </a:t>
            </a:r>
            <a:r>
              <a:rPr lang="en-US" sz="1400" b="1" err="1"/>
              <a:t>geen</a:t>
            </a:r>
            <a:r>
              <a:rPr lang="en-US" sz="1400" b="1"/>
              <a:t> </a:t>
            </a:r>
            <a:r>
              <a:rPr lang="en-US" sz="1400" b="1" err="1"/>
              <a:t>korting</a:t>
            </a:r>
            <a:r>
              <a:rPr lang="en-US" sz="1400" b="1"/>
              <a:t>"</a:t>
            </a:r>
            <a:r>
              <a:rPr lang="nl-NL" sz="1400" b="1"/>
              <a:t>);</a:t>
            </a:r>
          </a:p>
          <a:p>
            <a:r>
              <a:rPr lang="nl-NL" sz="1400" b="1"/>
              <a:t>}</a:t>
            </a:r>
          </a:p>
        </p:txBody>
      </p:sp>
      <p:graphicFrame>
        <p:nvGraphicFramePr>
          <p:cNvPr id="5" name="Tijdelijke aanduiding voor inhoud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3076392"/>
              </p:ext>
            </p:extLst>
          </p:nvPr>
        </p:nvGraphicFramePr>
        <p:xfrm>
          <a:off x="4484974" y="1650221"/>
          <a:ext cx="4227226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3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3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&gt;      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Groter dan</a:t>
                      </a:r>
                      <a:r>
                        <a:rPr lang="nl-NL" baseline="0"/>
                        <a:t> of groter of gelijk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&lt;      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Kleiner dan of kleiner of gelijk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==</a:t>
                      </a:r>
                      <a:r>
                        <a:rPr lang="nl-NL" baseline="0"/>
                        <a:t>      !=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Gelijk aan of ongelijk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ijdelijke aanduiding voor inhoud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26459"/>
              </p:ext>
            </p:extLst>
          </p:nvPr>
        </p:nvGraphicFramePr>
        <p:xfrm>
          <a:off x="4484974" y="2911894"/>
          <a:ext cx="4227226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3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3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&amp;&amp;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||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NOT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2000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Switch statement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/>
              <a:t>switch</a:t>
            </a:r>
          </a:p>
          <a:p>
            <a:r>
              <a:rPr lang="nl-NL"/>
              <a:t>case of default</a:t>
            </a:r>
          </a:p>
          <a:p>
            <a:r>
              <a:rPr lang="nl-NL"/>
              <a:t>break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29977" y="3068356"/>
            <a:ext cx="8295838" cy="2811503"/>
          </a:xfrm>
        </p:spPr>
        <p:txBody>
          <a:bodyPr/>
          <a:lstStyle/>
          <a:p>
            <a:r>
              <a:rPr lang="nl-NL"/>
              <a:t>var cijfer = </a:t>
            </a:r>
            <a:r>
              <a:rPr lang="nl-NL" err="1"/>
              <a:t>window.prompt</a:t>
            </a:r>
            <a:r>
              <a:rPr lang="nl-NL"/>
              <a:t>("Geef het cijfer");</a:t>
            </a:r>
          </a:p>
          <a:p>
            <a:r>
              <a:rPr lang="nl-NL"/>
              <a:t>switch (cijfer) {</a:t>
            </a:r>
          </a:p>
          <a:p>
            <a:r>
              <a:rPr lang="nl-NL"/>
              <a:t>	case 1: </a:t>
            </a:r>
          </a:p>
          <a:p>
            <a:r>
              <a:rPr lang="nl-NL"/>
              <a:t>		</a:t>
            </a:r>
            <a:r>
              <a:rPr lang="nl-NL" err="1"/>
              <a:t>document.write</a:t>
            </a:r>
            <a:r>
              <a:rPr lang="nl-NL"/>
              <a:t> ("zeer slecht"); </a:t>
            </a:r>
          </a:p>
          <a:p>
            <a:r>
              <a:rPr lang="nl-NL"/>
              <a:t>		break; </a:t>
            </a:r>
          </a:p>
          <a:p>
            <a:r>
              <a:rPr lang="nl-NL"/>
              <a:t>	// </a:t>
            </a:r>
            <a:r>
              <a:rPr lang="nl-NL" err="1"/>
              <a:t>other</a:t>
            </a:r>
            <a:r>
              <a:rPr lang="nl-NL"/>
              <a:t> cases </a:t>
            </a:r>
            <a:r>
              <a:rPr lang="nl-NL" err="1"/>
              <a:t>omitted</a:t>
            </a:r>
            <a:r>
              <a:rPr lang="nl-NL"/>
              <a:t> </a:t>
            </a:r>
          </a:p>
          <a:p>
            <a:r>
              <a:rPr lang="nl-NL"/>
              <a:t>	case 10: </a:t>
            </a:r>
          </a:p>
          <a:p>
            <a:r>
              <a:rPr lang="nl-NL"/>
              <a:t>		</a:t>
            </a:r>
            <a:r>
              <a:rPr lang="nl-NL" err="1"/>
              <a:t>document.write</a:t>
            </a:r>
            <a:r>
              <a:rPr lang="nl-NL"/>
              <a:t> ("uitstekend"); </a:t>
            </a:r>
          </a:p>
          <a:p>
            <a:r>
              <a:rPr lang="nl-NL"/>
              <a:t>		break; </a:t>
            </a:r>
          </a:p>
          <a:p>
            <a:r>
              <a:rPr lang="nl-NL"/>
              <a:t>	default: </a:t>
            </a:r>
          </a:p>
          <a:p>
            <a:r>
              <a:rPr lang="nl-NL"/>
              <a:t>		</a:t>
            </a:r>
            <a:r>
              <a:rPr lang="nl-NL" err="1"/>
              <a:t>document.write</a:t>
            </a:r>
            <a:r>
              <a:rPr lang="nl-NL"/>
              <a:t> ("verkeerd cijfer"); </a:t>
            </a:r>
          </a:p>
          <a:p>
            <a:r>
              <a:rPr lang="nl-NL"/>
              <a:t>		break; </a:t>
            </a:r>
          </a:p>
          <a:p>
            <a:r>
              <a:rPr lang="nl-NL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68234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Herhalingen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/>
              <a:t>for-loop</a:t>
            </a:r>
          </a:p>
          <a:p>
            <a:r>
              <a:rPr lang="nl-NL"/>
              <a:t>while-loop</a:t>
            </a:r>
          </a:p>
          <a:p>
            <a:r>
              <a:rPr lang="nl-NL"/>
              <a:t>do-while-loop</a:t>
            </a:r>
          </a:p>
          <a:p>
            <a:r>
              <a:rPr lang="nl-NL"/>
              <a:t>break en continue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14211" y="4398826"/>
            <a:ext cx="8295838" cy="1260309"/>
          </a:xfrm>
        </p:spPr>
        <p:txBody>
          <a:bodyPr/>
          <a:lstStyle/>
          <a:p>
            <a:r>
              <a:rPr lang="en-US"/>
              <a:t>var teller = 1; </a:t>
            </a:r>
          </a:p>
          <a:p>
            <a:r>
              <a:rPr lang="en-US"/>
              <a:t>while ( teller &lt; 1000 ) {</a:t>
            </a:r>
          </a:p>
          <a:p>
            <a:r>
              <a:rPr lang="en-US"/>
              <a:t>	 teller *= 2;</a:t>
            </a:r>
          </a:p>
          <a:p>
            <a:r>
              <a:rPr lang="en-US"/>
              <a:t>}</a:t>
            </a:r>
          </a:p>
        </p:txBody>
      </p:sp>
      <p:sp>
        <p:nvSpPr>
          <p:cNvPr id="5" name="Tijdelijke aanduiding voor tekst 3"/>
          <p:cNvSpPr txBox="1">
            <a:spLocks/>
          </p:cNvSpPr>
          <p:nvPr/>
        </p:nvSpPr>
        <p:spPr>
          <a:xfrm>
            <a:off x="3951514" y="892698"/>
            <a:ext cx="4760686" cy="567811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44000" tIns="144000" rIns="144000" bIns="144000" rtlCol="0" anchor="b">
            <a:spAutoFit/>
          </a:bodyPr>
          <a:lstStyle>
            <a:lvl1pPr marL="0" indent="0" algn="l" defTabSz="261245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nl-NL" sz="1200" kern="1200" spc="45" dirty="0">
                <a:solidFill>
                  <a:schemeClr val="bg1"/>
                </a:solidFill>
                <a:latin typeface="Consolas" charset="0"/>
                <a:ea typeface="Consolas" charset="0"/>
                <a:cs typeface="Consolas" charset="0"/>
              </a:defRPr>
            </a:lvl1pPr>
            <a:lvl2pPr marL="714375" indent="-357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2pPr>
            <a:lvl3pPr marL="1071563" indent="-357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NL" sz="1633" kern="1200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b-NO" sz="2000">
                <a:solidFill>
                  <a:schemeClr val="tx1"/>
                </a:solidFill>
              </a:rPr>
              <a:t>for (var i=1; i&lt;=10; i++) { }</a:t>
            </a:r>
          </a:p>
        </p:txBody>
      </p:sp>
      <p:sp>
        <p:nvSpPr>
          <p:cNvPr id="6" name="Tijdelijke aanduiding voor tekst 3"/>
          <p:cNvSpPr txBox="1">
            <a:spLocks/>
          </p:cNvSpPr>
          <p:nvPr/>
        </p:nvSpPr>
        <p:spPr>
          <a:xfrm>
            <a:off x="3951514" y="1595322"/>
            <a:ext cx="4760686" cy="567811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44000" tIns="144000" rIns="144000" bIns="144000" rtlCol="0" anchor="b">
            <a:spAutoFit/>
          </a:bodyPr>
          <a:lstStyle>
            <a:lvl1pPr marL="0" indent="0" algn="l" defTabSz="261245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nl-NL" sz="1200" kern="1200" spc="45" dirty="0">
                <a:solidFill>
                  <a:schemeClr val="bg1"/>
                </a:solidFill>
                <a:latin typeface="Consolas" charset="0"/>
                <a:ea typeface="Consolas" charset="0"/>
                <a:cs typeface="Consolas" charset="0"/>
              </a:defRPr>
            </a:lvl1pPr>
            <a:lvl2pPr marL="714375" indent="-357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2pPr>
            <a:lvl3pPr marL="1071563" indent="-357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NL" sz="1633" kern="1200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b-NO" sz="2000" err="1">
                <a:solidFill>
                  <a:schemeClr val="tx1"/>
                </a:solidFill>
              </a:rPr>
              <a:t>while</a:t>
            </a:r>
            <a:r>
              <a:rPr lang="nb-NO" sz="2000">
                <a:solidFill>
                  <a:schemeClr val="tx1"/>
                </a:solidFill>
              </a:rPr>
              <a:t> (&lt;true or false&gt;) { }</a:t>
            </a:r>
          </a:p>
        </p:txBody>
      </p:sp>
      <p:sp>
        <p:nvSpPr>
          <p:cNvPr id="8" name="Tijdelijke aanduiding voor tekst 3"/>
          <p:cNvSpPr txBox="1">
            <a:spLocks/>
          </p:cNvSpPr>
          <p:nvPr/>
        </p:nvSpPr>
        <p:spPr>
          <a:xfrm>
            <a:off x="416362" y="3454808"/>
            <a:ext cx="8295838" cy="87251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144000" tIns="144000" rIns="144000" bIns="144000" rtlCol="0" anchor="b">
            <a:spAutoFit/>
          </a:bodyPr>
          <a:lstStyle>
            <a:lvl1pPr marL="0" indent="0" algn="l" defTabSz="261245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nl-NL" sz="1200" kern="1200" spc="45" dirty="0">
                <a:solidFill>
                  <a:schemeClr val="bg1"/>
                </a:solidFill>
                <a:latin typeface="Consolas" charset="0"/>
                <a:ea typeface="Consolas" charset="0"/>
                <a:cs typeface="Consolas" charset="0"/>
              </a:defRPr>
            </a:lvl1pPr>
            <a:lvl2pPr marL="714375" indent="-357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2pPr>
            <a:lvl3pPr marL="1071563" indent="-357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NL" sz="1633" kern="1200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b-NO" sz="1400" b="1"/>
              <a:t>for(var i=1; i&lt;=10; i++) {</a:t>
            </a:r>
          </a:p>
          <a:p>
            <a:r>
              <a:rPr lang="nb-NO" sz="1400" b="1"/>
              <a:t>	</a:t>
            </a:r>
            <a:r>
              <a:rPr lang="nb-NO" sz="1400" b="1" err="1"/>
              <a:t>document.write</a:t>
            </a:r>
            <a:r>
              <a:rPr lang="nb-NO" sz="1400" b="1"/>
              <a:t>("hallo&lt;</a:t>
            </a:r>
            <a:r>
              <a:rPr lang="nb-NO" sz="1400" b="1" err="1"/>
              <a:t>br</a:t>
            </a:r>
            <a:r>
              <a:rPr lang="nb-NO" sz="1400" b="1"/>
              <a:t>&gt;"); </a:t>
            </a:r>
            <a:br>
              <a:rPr lang="nb-NO" sz="1400" b="1"/>
            </a:br>
            <a:r>
              <a:rPr lang="nb-NO" sz="1400" b="1"/>
              <a:t>} </a:t>
            </a:r>
          </a:p>
        </p:txBody>
      </p:sp>
      <p:sp>
        <p:nvSpPr>
          <p:cNvPr id="9" name="Tijdelijke aanduiding voor tekst 3"/>
          <p:cNvSpPr txBox="1">
            <a:spLocks/>
          </p:cNvSpPr>
          <p:nvPr/>
        </p:nvSpPr>
        <p:spPr>
          <a:xfrm>
            <a:off x="3949363" y="2305027"/>
            <a:ext cx="4760686" cy="567811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44000" tIns="144000" rIns="144000" bIns="144000" rtlCol="0" anchor="b">
            <a:spAutoFit/>
          </a:bodyPr>
          <a:lstStyle>
            <a:lvl1pPr marL="0" indent="0" algn="l" defTabSz="261245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nl-NL" sz="1200" kern="1200" spc="45" dirty="0">
                <a:solidFill>
                  <a:schemeClr val="bg1"/>
                </a:solidFill>
                <a:latin typeface="Consolas" charset="0"/>
                <a:ea typeface="Consolas" charset="0"/>
                <a:cs typeface="Consolas" charset="0"/>
              </a:defRPr>
            </a:lvl1pPr>
            <a:lvl2pPr marL="714375" indent="-357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2pPr>
            <a:lvl3pPr marL="1071563" indent="-357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NL" sz="1633" kern="1200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b-NO" sz="2000">
                <a:solidFill>
                  <a:schemeClr val="tx1"/>
                </a:solidFill>
              </a:rPr>
              <a:t>do { } </a:t>
            </a:r>
            <a:r>
              <a:rPr lang="nb-NO" sz="2000" err="1">
                <a:solidFill>
                  <a:schemeClr val="tx1"/>
                </a:solidFill>
              </a:rPr>
              <a:t>while</a:t>
            </a:r>
            <a:r>
              <a:rPr lang="nb-NO" sz="2000">
                <a:solidFill>
                  <a:schemeClr val="tx1"/>
                </a:solidFill>
              </a:rPr>
              <a:t> (&lt;true or false&gt;)</a:t>
            </a:r>
          </a:p>
        </p:txBody>
      </p:sp>
      <p:sp>
        <p:nvSpPr>
          <p:cNvPr id="10" name="Tijdelijke aanduiding voor tekst 3"/>
          <p:cNvSpPr txBox="1">
            <a:spLocks/>
          </p:cNvSpPr>
          <p:nvPr/>
        </p:nvSpPr>
        <p:spPr>
          <a:xfrm>
            <a:off x="416362" y="5745121"/>
            <a:ext cx="8295838" cy="106640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144000" tIns="144000" rIns="144000" bIns="144000" rtlCol="0" anchor="b">
            <a:spAutoFit/>
          </a:bodyPr>
          <a:lstStyle>
            <a:lvl1pPr marL="0" indent="0" algn="l" defTabSz="261245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nl-NL" sz="1200" kern="1200" spc="45" dirty="0">
                <a:solidFill>
                  <a:schemeClr val="bg1"/>
                </a:solidFill>
                <a:latin typeface="Consolas" charset="0"/>
                <a:ea typeface="Consolas" charset="0"/>
                <a:cs typeface="Consolas" charset="0"/>
              </a:defRPr>
            </a:lvl1pPr>
            <a:lvl2pPr marL="714375" indent="-357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2pPr>
            <a:lvl3pPr marL="1071563" indent="-357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NL" sz="1633" kern="1200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400" b="1"/>
              <a:t>var invoer;</a:t>
            </a:r>
          </a:p>
          <a:p>
            <a:r>
              <a:rPr lang="nl-NL" sz="1400" b="1"/>
              <a:t>do { </a:t>
            </a:r>
          </a:p>
          <a:p>
            <a:r>
              <a:rPr lang="nl-NL" sz="1400" b="1"/>
              <a:t>	invoer = window.prompt("Geef het wachtwoord");</a:t>
            </a:r>
          </a:p>
          <a:p>
            <a:r>
              <a:rPr lang="nl-NL" sz="1400" b="1"/>
              <a:t>} while (invoer != "geheim");</a:t>
            </a:r>
          </a:p>
        </p:txBody>
      </p:sp>
    </p:spTree>
    <p:extLst>
      <p:ext uri="{BB962C8B-B14F-4D97-AF65-F5344CB8AC3E}">
        <p14:creationId xmlns:p14="http://schemas.microsoft.com/office/powerpoint/2010/main" val="1983373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Oefening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Oefening 3: Beslissingen en lussen</a:t>
            </a:r>
            <a:br>
              <a:rPr lang="nl-NL" dirty="0"/>
            </a:br>
            <a:r>
              <a:rPr lang="nl-NL" dirty="0"/>
              <a:t>blz. 116</a:t>
            </a:r>
          </a:p>
          <a:p>
            <a:r>
              <a:rPr lang="nl-NL" dirty="0"/>
              <a:t>Oefening 4: Werken met lussen</a:t>
            </a:r>
            <a:br>
              <a:rPr lang="nl-NL" dirty="0"/>
            </a:br>
            <a:r>
              <a:rPr lang="nl-NL" dirty="0"/>
              <a:t>blz. 117 - 118</a:t>
            </a:r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57" y="5228627"/>
            <a:ext cx="1296987" cy="125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9039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Functies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28650" y="1825626"/>
            <a:ext cx="7886700" cy="2027918"/>
          </a:xfrm>
        </p:spPr>
        <p:txBody>
          <a:bodyPr>
            <a:normAutofit/>
          </a:bodyPr>
          <a:lstStyle/>
          <a:p>
            <a:r>
              <a:rPr lang="nl-NL"/>
              <a:t>functie definitie</a:t>
            </a:r>
          </a:p>
          <a:p>
            <a:r>
              <a:rPr lang="nl-NL"/>
              <a:t>functie aanroep</a:t>
            </a:r>
          </a:p>
          <a:p>
            <a:r>
              <a:rPr lang="nl-NL"/>
              <a:t>parameters</a:t>
            </a:r>
          </a:p>
          <a:p>
            <a:r>
              <a:rPr lang="nl-NL"/>
              <a:t>return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29977" y="4231752"/>
            <a:ext cx="8295838" cy="1648107"/>
          </a:xfrm>
        </p:spPr>
        <p:txBody>
          <a:bodyPr/>
          <a:lstStyle/>
          <a:p>
            <a:r>
              <a:rPr lang="nl-NL" b="1" err="1"/>
              <a:t>function</a:t>
            </a:r>
            <a:r>
              <a:rPr lang="nl-NL" b="1"/>
              <a:t> btw(prijs) {</a:t>
            </a:r>
            <a:br>
              <a:rPr lang="nl-NL" b="1"/>
            </a:br>
            <a:r>
              <a:rPr lang="nl-NL" b="1"/>
              <a:t>	</a:t>
            </a:r>
            <a:r>
              <a:rPr lang="nl-NL"/>
              <a:t>var result = parseFloat(</a:t>
            </a:r>
            <a:r>
              <a:rPr lang="nl-NL" b="1"/>
              <a:t>prijs</a:t>
            </a:r>
            <a:r>
              <a:rPr lang="nl-NL"/>
              <a:t>); </a:t>
            </a:r>
          </a:p>
          <a:p>
            <a:r>
              <a:rPr lang="nl-NL"/>
              <a:t>	</a:t>
            </a:r>
            <a:r>
              <a:rPr lang="nl-NL" err="1"/>
              <a:t>result</a:t>
            </a:r>
            <a:r>
              <a:rPr lang="nl-NL"/>
              <a:t> = result * 0.19; </a:t>
            </a:r>
          </a:p>
          <a:p>
            <a:r>
              <a:rPr lang="nl-NL" b="1"/>
              <a:t>	return </a:t>
            </a:r>
            <a:r>
              <a:rPr lang="nl-NL" b="1" err="1"/>
              <a:t>result</a:t>
            </a:r>
            <a:r>
              <a:rPr lang="nl-NL" b="1"/>
              <a:t>; </a:t>
            </a:r>
            <a:endParaRPr lang="nl-NL"/>
          </a:p>
          <a:p>
            <a:r>
              <a:rPr lang="nl-NL"/>
              <a:t>} </a:t>
            </a:r>
          </a:p>
          <a:p>
            <a:endParaRPr lang="nl-NL"/>
          </a:p>
          <a:p>
            <a:r>
              <a:rPr lang="nl-NL"/>
              <a:t>var btwamount = btw(3.50);</a:t>
            </a:r>
          </a:p>
        </p:txBody>
      </p:sp>
      <p:sp>
        <p:nvSpPr>
          <p:cNvPr id="5" name="Tijdelijke aanduiding voor tekst 3"/>
          <p:cNvSpPr txBox="1">
            <a:spLocks/>
          </p:cNvSpPr>
          <p:nvPr/>
        </p:nvSpPr>
        <p:spPr>
          <a:xfrm>
            <a:off x="3951514" y="1567542"/>
            <a:ext cx="4760686" cy="567811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44000" tIns="144000" rIns="144000" bIns="144000" rtlCol="0" anchor="b">
            <a:spAutoFit/>
          </a:bodyPr>
          <a:lstStyle>
            <a:lvl1pPr marL="0" indent="0" algn="l" defTabSz="261245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nl-NL" sz="1200" kern="1200" spc="45" dirty="0">
                <a:solidFill>
                  <a:schemeClr val="bg1"/>
                </a:solidFill>
                <a:latin typeface="Consolas" charset="0"/>
                <a:ea typeface="Consolas" charset="0"/>
                <a:cs typeface="Consolas" charset="0"/>
              </a:defRPr>
            </a:lvl1pPr>
            <a:lvl2pPr marL="714375" indent="-357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2pPr>
            <a:lvl3pPr marL="1071563" indent="-357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NL" sz="1633" kern="1200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b-NO" sz="2000" err="1">
                <a:solidFill>
                  <a:schemeClr val="tx1"/>
                </a:solidFill>
              </a:rPr>
              <a:t>function</a:t>
            </a:r>
            <a:r>
              <a:rPr lang="nb-NO" sz="2000">
                <a:solidFill>
                  <a:schemeClr val="tx1"/>
                </a:solidFill>
              </a:rPr>
              <a:t> </a:t>
            </a:r>
            <a:r>
              <a:rPr lang="nb-NO" sz="2000" err="1">
                <a:solidFill>
                  <a:schemeClr val="tx1"/>
                </a:solidFill>
              </a:rPr>
              <a:t>naam</a:t>
            </a:r>
            <a:r>
              <a:rPr lang="nb-NO" sz="2000">
                <a:solidFill>
                  <a:schemeClr val="tx1"/>
                </a:solidFill>
              </a:rPr>
              <a:t>(</a:t>
            </a:r>
            <a:r>
              <a:rPr lang="nb-NO" sz="2000" i="1">
                <a:solidFill>
                  <a:schemeClr val="tx1"/>
                </a:solidFill>
              </a:rPr>
              <a:t>parameter</a:t>
            </a:r>
            <a:r>
              <a:rPr lang="nb-NO" sz="2000">
                <a:solidFill>
                  <a:schemeClr val="tx1"/>
                </a:solidFill>
              </a:rPr>
              <a:t>) { }</a:t>
            </a:r>
          </a:p>
        </p:txBody>
      </p:sp>
      <p:sp>
        <p:nvSpPr>
          <p:cNvPr id="6" name="Tijdelijke aanduiding voor tekst 3"/>
          <p:cNvSpPr txBox="1">
            <a:spLocks/>
          </p:cNvSpPr>
          <p:nvPr/>
        </p:nvSpPr>
        <p:spPr>
          <a:xfrm>
            <a:off x="3951514" y="2285808"/>
            <a:ext cx="4760686" cy="567811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44000" tIns="144000" rIns="144000" bIns="144000" rtlCol="0" anchor="b">
            <a:spAutoFit/>
          </a:bodyPr>
          <a:lstStyle>
            <a:lvl1pPr marL="0" indent="0" algn="l" defTabSz="261245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nl-NL" sz="1200" kern="1200" spc="45" dirty="0">
                <a:solidFill>
                  <a:schemeClr val="bg1"/>
                </a:solidFill>
                <a:latin typeface="Consolas" charset="0"/>
                <a:ea typeface="Consolas" charset="0"/>
                <a:cs typeface="Consolas" charset="0"/>
              </a:defRPr>
            </a:lvl1pPr>
            <a:lvl2pPr marL="714375" indent="-357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2pPr>
            <a:lvl3pPr marL="1071563" indent="-357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NL" sz="1633" kern="1200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b-NO" sz="2000" err="1">
                <a:solidFill>
                  <a:schemeClr val="tx1"/>
                </a:solidFill>
              </a:rPr>
              <a:t>naam</a:t>
            </a:r>
            <a:r>
              <a:rPr lang="nb-NO" sz="2000">
                <a:solidFill>
                  <a:schemeClr val="tx1"/>
                </a:solidFill>
              </a:rPr>
              <a:t>(</a:t>
            </a:r>
            <a:r>
              <a:rPr lang="nb-NO" sz="2000" i="1" err="1">
                <a:solidFill>
                  <a:schemeClr val="tx1"/>
                </a:solidFill>
              </a:rPr>
              <a:t>waarde</a:t>
            </a:r>
            <a:r>
              <a:rPr lang="nb-NO" sz="2000">
                <a:solidFill>
                  <a:schemeClr val="tx1"/>
                </a:solidFill>
              </a:rPr>
              <a:t>);</a:t>
            </a:r>
          </a:p>
        </p:txBody>
      </p:sp>
      <p:sp>
        <p:nvSpPr>
          <p:cNvPr id="7" name="Tijdelijke aanduiding voor tekst 3"/>
          <p:cNvSpPr txBox="1">
            <a:spLocks/>
          </p:cNvSpPr>
          <p:nvPr/>
        </p:nvSpPr>
        <p:spPr>
          <a:xfrm>
            <a:off x="3951514" y="3018849"/>
            <a:ext cx="4760686" cy="567811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44000" tIns="144000" rIns="144000" bIns="144000" rtlCol="0" anchor="b">
            <a:spAutoFit/>
          </a:bodyPr>
          <a:lstStyle>
            <a:lvl1pPr marL="0" indent="0" algn="l" defTabSz="261245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nl-NL" sz="1200" kern="1200" spc="45" dirty="0">
                <a:solidFill>
                  <a:schemeClr val="bg1"/>
                </a:solidFill>
                <a:latin typeface="Consolas" charset="0"/>
                <a:ea typeface="Consolas" charset="0"/>
                <a:cs typeface="Consolas" charset="0"/>
              </a:defRPr>
            </a:lvl1pPr>
            <a:lvl2pPr marL="714375" indent="-357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2pPr>
            <a:lvl3pPr marL="1071563" indent="-357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NL" sz="1633" kern="1200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b-NO" sz="2000" err="1">
                <a:solidFill>
                  <a:schemeClr val="tx1"/>
                </a:solidFill>
              </a:rPr>
              <a:t>return</a:t>
            </a:r>
            <a:r>
              <a:rPr lang="nb-NO" sz="2000">
                <a:solidFill>
                  <a:schemeClr val="tx1"/>
                </a:solidFill>
              </a:rPr>
              <a:t> </a:t>
            </a:r>
            <a:r>
              <a:rPr lang="nb-NO" sz="2000" i="1" err="1">
                <a:solidFill>
                  <a:schemeClr val="tx1"/>
                </a:solidFill>
              </a:rPr>
              <a:t>uitkomst</a:t>
            </a:r>
            <a:r>
              <a:rPr lang="nb-NO" sz="2000">
                <a:solidFill>
                  <a:schemeClr val="tx1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195557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Scope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/>
              <a:t>Waar is een variabele zichtbaar?</a:t>
            </a:r>
          </a:p>
          <a:p>
            <a:endParaRPr lang="nl-NL"/>
          </a:p>
          <a:p>
            <a:r>
              <a:rPr lang="nl-NL" b="1" err="1"/>
              <a:t>Local</a:t>
            </a:r>
            <a:r>
              <a:rPr lang="nl-NL" b="1"/>
              <a:t> scope</a:t>
            </a:r>
            <a:r>
              <a:rPr lang="nl-NL"/>
              <a:t>: Elke variabele die u met var declareert binnen een functie, is uitsluitend binnen die functie zichtbaar. </a:t>
            </a:r>
          </a:p>
          <a:p>
            <a:endParaRPr lang="nl-NL"/>
          </a:p>
          <a:p>
            <a:r>
              <a:rPr lang="nl-NL" b="1"/>
              <a:t>Global scope</a:t>
            </a:r>
            <a:r>
              <a:rPr lang="nl-NL"/>
              <a:t>: Elke variabele die u buiten een functie declareert, is door het gehele script zichtbaar. </a:t>
            </a:r>
          </a:p>
          <a:p>
            <a:endParaRPr lang="nl-NL"/>
          </a:p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08493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Oefening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Oefening Werken met functies</a:t>
            </a:r>
            <a:br>
              <a:rPr lang="nl-NL" dirty="0"/>
            </a:br>
            <a:r>
              <a:rPr lang="nl-NL" dirty="0"/>
              <a:t>blz. 119 - 120</a:t>
            </a:r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57" y="5228627"/>
            <a:ext cx="1296987" cy="125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44467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628388"/>
          </a:xfrm>
        </p:spPr>
        <p:txBody>
          <a:bodyPr>
            <a:normAutofit/>
          </a:bodyPr>
          <a:lstStyle/>
          <a:p>
            <a:r>
              <a:rPr lang="en-US" err="1"/>
              <a:t>Definitie</a:t>
            </a:r>
            <a:r>
              <a:rPr lang="en-US"/>
              <a:t>: new Array(20) of []</a:t>
            </a:r>
          </a:p>
          <a:p>
            <a:r>
              <a:rPr lang="en-US" err="1"/>
              <a:t>Opvragen</a:t>
            </a:r>
            <a:r>
              <a:rPr lang="en-US"/>
              <a:t> of </a:t>
            </a:r>
            <a:r>
              <a:rPr lang="en-US" err="1"/>
              <a:t>toekenning</a:t>
            </a:r>
            <a:r>
              <a:rPr lang="en-US"/>
              <a:t> met index: a[0]</a:t>
            </a:r>
          </a:p>
          <a:p>
            <a:r>
              <a:rPr lang="en-US" err="1"/>
              <a:t>Aantal</a:t>
            </a:r>
            <a:r>
              <a:rPr lang="en-US"/>
              <a:t> </a:t>
            </a:r>
            <a:r>
              <a:rPr lang="en-US" err="1"/>
              <a:t>elementen</a:t>
            </a:r>
            <a:r>
              <a:rPr lang="en-US"/>
              <a:t>: </a:t>
            </a:r>
            <a:r>
              <a:rPr lang="en-US" err="1"/>
              <a:t>eigenschap</a:t>
            </a:r>
            <a:r>
              <a:rPr lang="en-US"/>
              <a:t> </a:t>
            </a:r>
            <a:r>
              <a:rPr lang="en-US" b="1"/>
              <a:t>length</a:t>
            </a:r>
          </a:p>
          <a:p>
            <a:r>
              <a:rPr lang="en-US"/>
              <a:t>Sparse arrays: array met </a:t>
            </a:r>
            <a:r>
              <a:rPr lang="en-US" err="1"/>
              <a:t>gaten</a:t>
            </a:r>
            <a:endParaRPr lang="en-US"/>
          </a:p>
          <a:p>
            <a:pPr>
              <a:buNone/>
            </a:pP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9977" y="4204053"/>
            <a:ext cx="8295838" cy="1842006"/>
          </a:xfrm>
        </p:spPr>
        <p:txBody>
          <a:bodyPr/>
          <a:lstStyle/>
          <a:p>
            <a:r>
              <a:rPr lang="en-US" dirty="0"/>
              <a:t>//</a:t>
            </a: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leerlingnamen</a:t>
            </a:r>
            <a:r>
              <a:rPr lang="en-US" dirty="0"/>
              <a:t> = new Array(20);</a:t>
            </a:r>
          </a:p>
          <a:p>
            <a:endParaRPr lang="en-US" dirty="0"/>
          </a:p>
          <a:p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leerlingnamen</a:t>
            </a:r>
            <a:r>
              <a:rPr lang="en-US" dirty="0"/>
              <a:t> = [</a:t>
            </a:r>
            <a:r>
              <a:rPr dirty="0"/>
              <a:t>"</a:t>
            </a:r>
            <a:r>
              <a:rPr lang="en-US" dirty="0"/>
              <a:t>Joke</a:t>
            </a:r>
            <a:r>
              <a:rPr dirty="0"/>
              <a:t>"</a:t>
            </a:r>
            <a:r>
              <a:rPr lang="en-US" dirty="0"/>
              <a:t>,</a:t>
            </a:r>
            <a:r>
              <a:rPr dirty="0"/>
              <a:t> "</a:t>
            </a:r>
            <a:r>
              <a:rPr lang="en-US" dirty="0"/>
              <a:t>Peter</a:t>
            </a:r>
            <a:r>
              <a:rPr dirty="0"/>
              <a:t>"</a:t>
            </a:r>
            <a:r>
              <a:rPr lang="en-US" dirty="0"/>
              <a:t>];</a:t>
            </a:r>
          </a:p>
          <a:p>
            <a:r>
              <a:rPr lang="en-US" dirty="0" err="1"/>
              <a:t>Leerlingnamen</a:t>
            </a:r>
            <a:r>
              <a:rPr lang="en-US" dirty="0"/>
              <a:t>[3] = </a:t>
            </a:r>
            <a:r>
              <a:rPr dirty="0"/>
              <a:t>"</a:t>
            </a:r>
            <a:r>
              <a:rPr lang="en-US" dirty="0"/>
              <a:t>Laurens</a:t>
            </a:r>
            <a:r>
              <a:rPr dirty="0"/>
              <a:t>"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for (let 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</a:t>
            </a:r>
            <a:r>
              <a:rPr lang="en-US" dirty="0" err="1"/>
              <a:t>leerlingname.length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	</a:t>
            </a:r>
            <a:r>
              <a:rPr lang="en-US" dirty="0" err="1"/>
              <a:t>document.write</a:t>
            </a:r>
            <a:r>
              <a:rPr lang="en-US" dirty="0"/>
              <a:t>(</a:t>
            </a:r>
            <a:r>
              <a:rPr lang="en-US" dirty="0" err="1"/>
              <a:t>leerlingnamen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+ </a:t>
            </a:r>
            <a:r>
              <a:rPr dirty="0"/>
              <a:t>"</a:t>
            </a:r>
            <a:r>
              <a:rPr lang="en-US" dirty="0"/>
              <a:t>&lt;</a:t>
            </a:r>
            <a:r>
              <a:rPr lang="en-US" dirty="0" err="1"/>
              <a:t>br</a:t>
            </a:r>
            <a:r>
              <a:rPr lang="en-US" dirty="0"/>
              <a:t>&gt;</a:t>
            </a:r>
            <a:r>
              <a:rPr dirty="0"/>
              <a:t>"</a:t>
            </a:r>
            <a:r>
              <a:rPr lang="en-US" dirty="0"/>
              <a:t>)</a:t>
            </a:r>
          </a:p>
          <a:p>
            <a:r>
              <a:rPr lang="en-US" dirty="0"/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For </a:t>
            </a:r>
            <a:r>
              <a:rPr lang="is-IS" dirty="0"/>
              <a:t>… Of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Loop </a:t>
            </a:r>
            <a:r>
              <a:rPr lang="nl-NL" dirty="0" err="1"/>
              <a:t>through</a:t>
            </a:r>
            <a:r>
              <a:rPr lang="nl-NL" dirty="0"/>
              <a:t>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elements</a:t>
            </a:r>
            <a:r>
              <a:rPr lang="nl-NL" dirty="0"/>
              <a:t> van een array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D73971DC-02B1-3540-829E-8A945E1901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977" y="4037853"/>
            <a:ext cx="8295838" cy="1842006"/>
          </a:xfrm>
        </p:spPr>
        <p:txBody>
          <a:bodyPr/>
          <a:lstStyle/>
          <a:p>
            <a:r>
              <a:rPr lang="en-US" dirty="0"/>
              <a:t>//</a:t>
            </a: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leerlingnamen</a:t>
            </a:r>
            <a:r>
              <a:rPr lang="en-US" dirty="0"/>
              <a:t> = new Array(20);</a:t>
            </a:r>
          </a:p>
          <a:p>
            <a:endParaRPr lang="en-US" dirty="0"/>
          </a:p>
          <a:p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leerlingnamen</a:t>
            </a:r>
            <a:r>
              <a:rPr lang="en-US" dirty="0"/>
              <a:t> = ["Joke", "Peter"];</a:t>
            </a:r>
          </a:p>
          <a:p>
            <a:r>
              <a:rPr lang="en-US" dirty="0" err="1"/>
              <a:t>Leerlingnamen</a:t>
            </a:r>
            <a:r>
              <a:rPr lang="en-US" dirty="0"/>
              <a:t>[3] = "Laurens";</a:t>
            </a:r>
          </a:p>
          <a:p>
            <a:endParaRPr lang="en-US" dirty="0"/>
          </a:p>
          <a:p>
            <a:r>
              <a:rPr lang="en-US" dirty="0"/>
              <a:t>for (let </a:t>
            </a:r>
            <a:r>
              <a:rPr lang="en-US" dirty="0" err="1"/>
              <a:t>naam</a:t>
            </a:r>
            <a:r>
              <a:rPr lang="en-US" dirty="0"/>
              <a:t> of </a:t>
            </a:r>
            <a:r>
              <a:rPr lang="en-US" dirty="0" err="1"/>
              <a:t>leerlingnamen</a:t>
            </a:r>
            <a:r>
              <a:rPr lang="en-US" dirty="0"/>
              <a:t>) {</a:t>
            </a:r>
          </a:p>
          <a:p>
            <a:r>
              <a:rPr lang="en-US" dirty="0"/>
              <a:t>	</a:t>
            </a:r>
            <a:r>
              <a:rPr lang="en-US" dirty="0" err="1"/>
              <a:t>document.write</a:t>
            </a:r>
            <a:r>
              <a:rPr lang="en-US" dirty="0"/>
              <a:t>(</a:t>
            </a:r>
            <a:r>
              <a:rPr lang="en-US" dirty="0" err="1"/>
              <a:t>naam</a:t>
            </a:r>
            <a:r>
              <a:rPr lang="en-US" dirty="0"/>
              <a:t> + "&lt;</a:t>
            </a:r>
            <a:r>
              <a:rPr lang="en-US" dirty="0" err="1"/>
              <a:t>br</a:t>
            </a:r>
            <a:r>
              <a:rPr lang="en-US" dirty="0"/>
              <a:t>&gt;")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569906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Meerdimensionale</a:t>
            </a:r>
            <a:r>
              <a:rPr lang="en-US"/>
              <a:t>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772981"/>
          </a:xfrm>
        </p:spPr>
        <p:txBody>
          <a:bodyPr>
            <a:normAutofit/>
          </a:bodyPr>
          <a:lstStyle/>
          <a:p>
            <a:r>
              <a:rPr lang="en-US"/>
              <a:t>Array van arrays</a:t>
            </a:r>
          </a:p>
          <a:p>
            <a:r>
              <a:rPr lang="en-US" err="1"/>
              <a:t>Dubbele</a:t>
            </a:r>
            <a:r>
              <a:rPr lang="en-US"/>
              <a:t> index: matrix[</a:t>
            </a:r>
            <a:r>
              <a:rPr lang="en-US" err="1"/>
              <a:t>rij</a:t>
            </a:r>
            <a:r>
              <a:rPr lang="en-US"/>
              <a:t>][</a:t>
            </a:r>
            <a:r>
              <a:rPr lang="en-US" err="1"/>
              <a:t>kolom</a:t>
            </a:r>
            <a:r>
              <a:rPr lang="en-US"/>
              <a:t>]</a:t>
            </a:r>
          </a:p>
          <a:p>
            <a:endParaRPr lang="en-US"/>
          </a:p>
          <a:p>
            <a:pPr>
              <a:buNone/>
            </a:pP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16362" y="3065585"/>
            <a:ext cx="8295838" cy="3587099"/>
          </a:xfrm>
        </p:spPr>
        <p:txBody>
          <a:bodyPr/>
          <a:lstStyle/>
          <a:p>
            <a:r>
              <a:rPr lang="en-US" err="1"/>
              <a:t>var</a:t>
            </a:r>
            <a:r>
              <a:rPr lang="en-US"/>
              <a:t> matrix = [];</a:t>
            </a:r>
          </a:p>
          <a:p>
            <a:r>
              <a:rPr lang="en-US"/>
              <a:t>for (let </a:t>
            </a:r>
            <a:r>
              <a:rPr lang="en-US" err="1"/>
              <a:t>i</a:t>
            </a:r>
            <a:r>
              <a:rPr lang="en-US"/>
              <a:t>=0; </a:t>
            </a:r>
            <a:r>
              <a:rPr lang="en-US" err="1"/>
              <a:t>i</a:t>
            </a:r>
            <a:r>
              <a:rPr lang="en-US"/>
              <a:t>&lt;10; </a:t>
            </a:r>
            <a:r>
              <a:rPr lang="en-US" err="1"/>
              <a:t>i</a:t>
            </a:r>
            <a:r>
              <a:rPr lang="en-US"/>
              <a:t>++) {</a:t>
            </a:r>
          </a:p>
          <a:p>
            <a:r>
              <a:rPr lang="en-US"/>
              <a:t>	matrix[</a:t>
            </a:r>
            <a:r>
              <a:rPr lang="en-US" err="1"/>
              <a:t>i</a:t>
            </a:r>
            <a:r>
              <a:rPr lang="en-US"/>
              <a:t>] = [];</a:t>
            </a:r>
          </a:p>
          <a:p>
            <a:r>
              <a:rPr lang="en-US"/>
              <a:t>	for (let j=0; j&lt;10; j++) {</a:t>
            </a:r>
          </a:p>
          <a:p>
            <a:r>
              <a:rPr lang="en-US"/>
              <a:t>		matrix[</a:t>
            </a:r>
            <a:r>
              <a:rPr lang="en-US" err="1"/>
              <a:t>i</a:t>
            </a:r>
            <a:r>
              <a:rPr lang="en-US"/>
              <a:t>][j] = (i+1) * (j+1);</a:t>
            </a:r>
          </a:p>
          <a:p>
            <a:r>
              <a:rPr lang="en-US"/>
              <a:t>	}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 err="1"/>
              <a:t>document.write</a:t>
            </a:r>
            <a:r>
              <a:rPr lang="en-US"/>
              <a:t>("&lt;</a:t>
            </a:r>
            <a:r>
              <a:rPr lang="en-US" err="1"/>
              <a:t>br</a:t>
            </a:r>
            <a:r>
              <a:rPr lang="en-US"/>
              <a:t>&gt;&lt;table&gt;");</a:t>
            </a:r>
          </a:p>
          <a:p>
            <a:r>
              <a:rPr lang="en-US"/>
              <a:t>for (let </a:t>
            </a:r>
            <a:r>
              <a:rPr lang="en-US" err="1"/>
              <a:t>i</a:t>
            </a:r>
            <a:r>
              <a:rPr lang="en-US"/>
              <a:t>=0; </a:t>
            </a:r>
            <a:r>
              <a:rPr lang="en-US" err="1"/>
              <a:t>i</a:t>
            </a:r>
            <a:r>
              <a:rPr lang="en-US"/>
              <a:t>&lt;</a:t>
            </a:r>
            <a:r>
              <a:rPr lang="en-US" err="1"/>
              <a:t>matrix.length</a:t>
            </a:r>
            <a:r>
              <a:rPr lang="en-US"/>
              <a:t>; </a:t>
            </a:r>
            <a:r>
              <a:rPr lang="en-US" err="1"/>
              <a:t>i</a:t>
            </a:r>
            <a:r>
              <a:rPr lang="en-US"/>
              <a:t>++) {</a:t>
            </a:r>
          </a:p>
          <a:p>
            <a:r>
              <a:rPr lang="en-US"/>
              <a:t>	</a:t>
            </a:r>
            <a:r>
              <a:rPr lang="en-US" err="1"/>
              <a:t>document.write</a:t>
            </a:r>
            <a:r>
              <a:rPr lang="en-US"/>
              <a:t>("&lt;</a:t>
            </a:r>
            <a:r>
              <a:rPr lang="en-US" err="1"/>
              <a:t>tr</a:t>
            </a:r>
            <a:r>
              <a:rPr lang="en-US"/>
              <a:t>&gt;");</a:t>
            </a:r>
          </a:p>
          <a:p>
            <a:r>
              <a:rPr lang="en-US"/>
              <a:t>	for (let j=0; j&lt;matrix[</a:t>
            </a:r>
            <a:r>
              <a:rPr lang="en-US" err="1"/>
              <a:t>i</a:t>
            </a:r>
            <a:r>
              <a:rPr lang="en-US"/>
              <a:t>].length; j++) {</a:t>
            </a:r>
          </a:p>
          <a:p>
            <a:r>
              <a:rPr lang="en-US"/>
              <a:t>		</a:t>
            </a:r>
            <a:r>
              <a:rPr lang="en-US" err="1"/>
              <a:t>document.write</a:t>
            </a:r>
            <a:r>
              <a:rPr lang="en-US"/>
              <a:t>("&lt;td&gt;" + matrix[</a:t>
            </a:r>
            <a:r>
              <a:rPr lang="en-US" err="1"/>
              <a:t>i</a:t>
            </a:r>
            <a:r>
              <a:rPr lang="en-US"/>
              <a:t>][j] + "&lt;/td&gt;");</a:t>
            </a:r>
          </a:p>
          <a:p>
            <a:r>
              <a:rPr lang="en-US"/>
              <a:t>	}</a:t>
            </a:r>
          </a:p>
          <a:p>
            <a:r>
              <a:rPr lang="en-US"/>
              <a:t>	</a:t>
            </a:r>
            <a:r>
              <a:rPr lang="en-US" err="1"/>
              <a:t>document.write</a:t>
            </a:r>
            <a:r>
              <a:rPr lang="en-US"/>
              <a:t>("&lt;/</a:t>
            </a:r>
            <a:r>
              <a:rPr lang="en-US" err="1"/>
              <a:t>tr</a:t>
            </a:r>
            <a:r>
              <a:rPr lang="en-US"/>
              <a:t>&gt;");</a:t>
            </a:r>
          </a:p>
          <a:p>
            <a:r>
              <a:rPr lang="en-US"/>
              <a:t>}</a:t>
            </a:r>
          </a:p>
          <a:p>
            <a:r>
              <a:rPr lang="en-US" err="1"/>
              <a:t>document.write</a:t>
            </a:r>
            <a:r>
              <a:rPr lang="en-US"/>
              <a:t>("&lt;/table&gt;");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Oefening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Oefening 6: Omgaan met arrays</a:t>
            </a:r>
            <a:br>
              <a:rPr lang="nl-NL" dirty="0"/>
            </a:br>
            <a:r>
              <a:rPr lang="nl-NL" dirty="0"/>
              <a:t>blz. 121</a:t>
            </a:r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57" y="5228627"/>
            <a:ext cx="1296987" cy="125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93334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Objecten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536513"/>
          </a:xfrm>
        </p:spPr>
        <p:txBody>
          <a:bodyPr>
            <a:normAutofit/>
          </a:bodyPr>
          <a:lstStyle/>
          <a:p>
            <a:r>
              <a:rPr lang="nl-NL" dirty="0"/>
              <a:t>Eigenschappen en acties: </a:t>
            </a:r>
            <a:r>
              <a:rPr lang="nl-NL" dirty="0" err="1"/>
              <a:t>attributes</a:t>
            </a:r>
            <a:r>
              <a:rPr lang="nl-NL" dirty="0"/>
              <a:t> en </a:t>
            </a:r>
            <a:r>
              <a:rPr lang="nl-NL" dirty="0" err="1"/>
              <a:t>methods</a:t>
            </a:r>
            <a:endParaRPr lang="nl-NL" dirty="0"/>
          </a:p>
          <a:p>
            <a:r>
              <a:rPr lang="nl-NL" dirty="0"/>
              <a:t>Object operator .</a:t>
            </a:r>
          </a:p>
          <a:p>
            <a:r>
              <a:rPr lang="nl-NL" dirty="0"/>
              <a:t>new Object</a:t>
            </a:r>
          </a:p>
          <a:p>
            <a:r>
              <a:rPr lang="nl-NL" dirty="0"/>
              <a:t>Associatieve array, </a:t>
            </a:r>
            <a:r>
              <a:rPr lang="nl-NL" dirty="0" err="1"/>
              <a:t>key</a:t>
            </a:r>
            <a:r>
              <a:rPr lang="nl-NL" dirty="0"/>
              <a:t> =&gt; </a:t>
            </a:r>
            <a:r>
              <a:rPr lang="nl-NL" dirty="0" err="1"/>
              <a:t>value</a:t>
            </a:r>
            <a:endParaRPr lang="nl-NL" dirty="0"/>
          </a:p>
          <a:p>
            <a:r>
              <a:rPr lang="nl-NL" dirty="0" err="1"/>
              <a:t>Initializatie</a:t>
            </a:r>
            <a:r>
              <a:rPr lang="nl-NL" dirty="0"/>
              <a:t>: { </a:t>
            </a:r>
            <a:r>
              <a:rPr lang="nl-NL" dirty="0" err="1"/>
              <a:t>key</a:t>
            </a:r>
            <a:r>
              <a:rPr lang="nl-NL" dirty="0"/>
              <a:t>: </a:t>
            </a:r>
            <a:r>
              <a:rPr lang="nl-NL" dirty="0" err="1"/>
              <a:t>value</a:t>
            </a:r>
            <a:r>
              <a:rPr lang="nl-NL" dirty="0"/>
              <a:t>, </a:t>
            </a:r>
            <a:r>
              <a:rPr lang="nl-NL" dirty="0" err="1"/>
              <a:t>key</a:t>
            </a:r>
            <a:r>
              <a:rPr lang="nl-NL" dirty="0"/>
              <a:t>: </a:t>
            </a:r>
            <a:r>
              <a:rPr lang="nl-NL" dirty="0" err="1"/>
              <a:t>value</a:t>
            </a:r>
            <a:r>
              <a:rPr lang="nl-NL" dirty="0"/>
              <a:t> }; 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16362" y="4231752"/>
            <a:ext cx="8295838" cy="1648107"/>
          </a:xfrm>
        </p:spPr>
        <p:txBody>
          <a:bodyPr/>
          <a:lstStyle/>
          <a:p>
            <a:r>
              <a:rPr lang="nl-NL" dirty="0"/>
              <a:t>var persoon = new Object;</a:t>
            </a:r>
          </a:p>
          <a:p>
            <a:r>
              <a:rPr lang="nl-NL" dirty="0" err="1"/>
              <a:t>persoon.voornaam</a:t>
            </a:r>
            <a:r>
              <a:rPr lang="nl-NL" dirty="0"/>
              <a:t> = </a:t>
            </a:r>
            <a:r>
              <a:rPr lang="en-US" dirty="0"/>
              <a:t>"Albert";</a:t>
            </a:r>
          </a:p>
          <a:p>
            <a:r>
              <a:rPr lang="en-US" dirty="0" err="1"/>
              <a:t>persoon</a:t>
            </a:r>
            <a:r>
              <a:rPr lang="en-US" dirty="0"/>
              <a:t>["</a:t>
            </a:r>
            <a:r>
              <a:rPr lang="en-US" dirty="0" err="1"/>
              <a:t>achternaam</a:t>
            </a:r>
            <a:r>
              <a:rPr lang="en-US" dirty="0"/>
              <a:t>"] = "Einstein";</a:t>
            </a:r>
          </a:p>
          <a:p>
            <a:endParaRPr lang="en-US" dirty="0"/>
          </a:p>
          <a:p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persoon</a:t>
            </a:r>
            <a:r>
              <a:rPr lang="en-US" dirty="0"/>
              <a:t> = {</a:t>
            </a:r>
            <a:r>
              <a:rPr lang="en-US" dirty="0" err="1"/>
              <a:t>voornaam</a:t>
            </a:r>
            <a:r>
              <a:rPr lang="en-US" dirty="0"/>
              <a:t>:"Albert", </a:t>
            </a:r>
            <a:r>
              <a:rPr lang="en-US" dirty="0" err="1"/>
              <a:t>achternaam</a:t>
            </a:r>
            <a:r>
              <a:rPr lang="en-US" dirty="0"/>
              <a:t>:"Einstein"};</a:t>
            </a:r>
          </a:p>
          <a:p>
            <a:endParaRPr lang="en-US" dirty="0"/>
          </a:p>
          <a:p>
            <a:r>
              <a:rPr lang="nl-NL" dirty="0"/>
              <a:t>alert( </a:t>
            </a:r>
            <a:r>
              <a:rPr lang="nl-NL" dirty="0" err="1"/>
              <a:t>persoon.voornaam</a:t>
            </a:r>
            <a:r>
              <a:rPr lang="nl-NL" dirty="0"/>
              <a:t> + </a:t>
            </a:r>
            <a:r>
              <a:rPr lang="en-US" dirty="0"/>
              <a:t>" " + </a:t>
            </a:r>
            <a:r>
              <a:rPr lang="en-US" dirty="0" err="1"/>
              <a:t>persoon.achternaam</a:t>
            </a:r>
            <a:r>
              <a:rPr lang="nl-NL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597852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For </a:t>
            </a:r>
            <a:r>
              <a:rPr lang="is-IS"/>
              <a:t>… In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/>
              <a:t>Loop through all attributes of an object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29977" y="4231752"/>
            <a:ext cx="8295838" cy="1648107"/>
          </a:xfrm>
        </p:spPr>
        <p:txBody>
          <a:bodyPr/>
          <a:lstStyle/>
          <a:p>
            <a:r>
              <a:rPr lang="nl-NL" dirty="0"/>
              <a:t>var persoon = new Object;</a:t>
            </a:r>
          </a:p>
          <a:p>
            <a:r>
              <a:rPr lang="nl-NL" dirty="0" err="1"/>
              <a:t>persoon.voornaam</a:t>
            </a:r>
            <a:r>
              <a:rPr lang="nl-NL" dirty="0"/>
              <a:t> = </a:t>
            </a:r>
            <a:r>
              <a:rPr lang="en-US" dirty="0"/>
              <a:t>"Albert";</a:t>
            </a:r>
          </a:p>
          <a:p>
            <a:r>
              <a:rPr lang="en-US" dirty="0" err="1"/>
              <a:t>persoon.achternaam</a:t>
            </a:r>
            <a:r>
              <a:rPr lang="en-US" dirty="0"/>
              <a:t> = "Einstein";</a:t>
            </a:r>
          </a:p>
          <a:p>
            <a:endParaRPr lang="en-US" dirty="0"/>
          </a:p>
          <a:p>
            <a:r>
              <a:rPr lang="en-US" dirty="0"/>
              <a:t>for (let key in </a:t>
            </a:r>
            <a:r>
              <a:rPr lang="en-US" dirty="0" err="1"/>
              <a:t>persoon</a:t>
            </a:r>
            <a:r>
              <a:rPr lang="en-US" dirty="0"/>
              <a:t>) {</a:t>
            </a:r>
          </a:p>
          <a:p>
            <a:r>
              <a:rPr lang="en-US" dirty="0"/>
              <a:t>	</a:t>
            </a:r>
            <a:r>
              <a:rPr lang="en-US" dirty="0" err="1"/>
              <a:t>document.write</a:t>
            </a:r>
            <a:r>
              <a:rPr lang="en-US" dirty="0"/>
              <a:t>( key + " " + </a:t>
            </a:r>
            <a:r>
              <a:rPr lang="en-US" dirty="0" err="1"/>
              <a:t>persoon</a:t>
            </a:r>
            <a:r>
              <a:rPr lang="en-US" dirty="0"/>
              <a:t>[key] );</a:t>
            </a:r>
          </a:p>
          <a:p>
            <a:r>
              <a:rPr lang="en-US" dirty="0"/>
              <a:t>}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05702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hthoek 69">
            <a:extLst>
              <a:ext uri="{FF2B5EF4-FFF2-40B4-BE49-F238E27FC236}">
                <a16:creationId xmlns:a16="http://schemas.microsoft.com/office/drawing/2014/main" id="{31D4D14D-1738-3845-BCD7-C7B92A8EA573}"/>
              </a:ext>
            </a:extLst>
          </p:cNvPr>
          <p:cNvSpPr/>
          <p:nvPr/>
        </p:nvSpPr>
        <p:spPr>
          <a:xfrm>
            <a:off x="6337738" y="5739848"/>
            <a:ext cx="2680138" cy="1118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39326EF-106D-1844-B0D3-BE2948FFC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err="1"/>
              <a:t>Window</a:t>
            </a:r>
            <a:r>
              <a:rPr lang="nl-NL"/>
              <a:t> Object Model</a:t>
            </a:r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A11AC8FB-B36E-6244-B645-B45FB81424C3}"/>
              </a:ext>
            </a:extLst>
          </p:cNvPr>
          <p:cNvSpPr/>
          <p:nvPr/>
        </p:nvSpPr>
        <p:spPr>
          <a:xfrm>
            <a:off x="1369631" y="1690689"/>
            <a:ext cx="1074026" cy="4099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b="1" err="1">
                <a:solidFill>
                  <a:schemeClr val="bg1"/>
                </a:solidFill>
              </a:rPr>
              <a:t>window</a:t>
            </a:r>
            <a:endParaRPr lang="nl-NL" sz="1600" b="1">
              <a:solidFill>
                <a:schemeClr val="bg1"/>
              </a:solidFill>
            </a:endParaRPr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6D7C7F4B-B56B-2B4E-8737-E8B6EFC7DDDE}"/>
              </a:ext>
            </a:extLst>
          </p:cNvPr>
          <p:cNvSpPr/>
          <p:nvPr/>
        </p:nvSpPr>
        <p:spPr>
          <a:xfrm>
            <a:off x="2909397" y="1690688"/>
            <a:ext cx="1074026" cy="4099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b="1">
                <a:solidFill>
                  <a:schemeClr val="bg1"/>
                </a:solidFill>
              </a:rPr>
              <a:t>document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E8764171-D1F1-5D47-BD2B-D2FD807D09A4}"/>
              </a:ext>
            </a:extLst>
          </p:cNvPr>
          <p:cNvSpPr/>
          <p:nvPr/>
        </p:nvSpPr>
        <p:spPr>
          <a:xfrm>
            <a:off x="2909397" y="2301764"/>
            <a:ext cx="1074026" cy="4099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b="1">
                <a:solidFill>
                  <a:schemeClr val="bg1"/>
                </a:solidFill>
              </a:rPr>
              <a:t>navigator</a:t>
            </a:r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D2EB8C4A-39C2-324C-A629-5B86649CD5B2}"/>
              </a:ext>
            </a:extLst>
          </p:cNvPr>
          <p:cNvSpPr/>
          <p:nvPr/>
        </p:nvSpPr>
        <p:spPr>
          <a:xfrm>
            <a:off x="2909397" y="2912840"/>
            <a:ext cx="1074026" cy="4099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b="1" err="1">
                <a:solidFill>
                  <a:schemeClr val="bg1"/>
                </a:solidFill>
              </a:rPr>
              <a:t>location</a:t>
            </a:r>
            <a:endParaRPr lang="nl-NL" sz="1600" b="1">
              <a:solidFill>
                <a:schemeClr val="bg1"/>
              </a:solidFill>
            </a:endParaRP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3350EC91-EEC2-2949-BD5D-E13A31825971}"/>
              </a:ext>
            </a:extLst>
          </p:cNvPr>
          <p:cNvSpPr/>
          <p:nvPr/>
        </p:nvSpPr>
        <p:spPr>
          <a:xfrm>
            <a:off x="2909397" y="3523916"/>
            <a:ext cx="1074026" cy="4099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b="1">
                <a:solidFill>
                  <a:schemeClr val="bg1"/>
                </a:solidFill>
              </a:rPr>
              <a:t>frame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1A6CA99C-6B16-804A-A4FC-5118238209B6}"/>
              </a:ext>
            </a:extLst>
          </p:cNvPr>
          <p:cNvSpPr/>
          <p:nvPr/>
        </p:nvSpPr>
        <p:spPr>
          <a:xfrm>
            <a:off x="2909397" y="4134992"/>
            <a:ext cx="1074026" cy="4099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b="1">
                <a:solidFill>
                  <a:schemeClr val="bg1"/>
                </a:solidFill>
              </a:rPr>
              <a:t>screen</a:t>
            </a: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A95E6162-46AB-5E46-9163-9C10ACFF95F4}"/>
              </a:ext>
            </a:extLst>
          </p:cNvPr>
          <p:cNvSpPr/>
          <p:nvPr/>
        </p:nvSpPr>
        <p:spPr>
          <a:xfrm>
            <a:off x="2909397" y="4746068"/>
            <a:ext cx="1074026" cy="4099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b="1" err="1">
                <a:solidFill>
                  <a:schemeClr val="bg1"/>
                </a:solidFill>
              </a:rPr>
              <a:t>history</a:t>
            </a:r>
            <a:endParaRPr lang="nl-NL" sz="1600" b="1">
              <a:solidFill>
                <a:schemeClr val="bg1"/>
              </a:solidFill>
            </a:endParaRPr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FD40D1FE-4168-AB4D-8561-5659D55F1BD2}"/>
              </a:ext>
            </a:extLst>
          </p:cNvPr>
          <p:cNvSpPr/>
          <p:nvPr/>
        </p:nvSpPr>
        <p:spPr>
          <a:xfrm>
            <a:off x="4449163" y="1690688"/>
            <a:ext cx="1074026" cy="4099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b="1">
                <a:solidFill>
                  <a:schemeClr val="bg1"/>
                </a:solidFill>
              </a:rPr>
              <a:t>form</a:t>
            </a:r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98C9F9A6-9DFE-AC4C-B146-056FCB363289}"/>
              </a:ext>
            </a:extLst>
          </p:cNvPr>
          <p:cNvSpPr/>
          <p:nvPr/>
        </p:nvSpPr>
        <p:spPr>
          <a:xfrm>
            <a:off x="4449163" y="2301764"/>
            <a:ext cx="1074026" cy="4099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b="1">
                <a:solidFill>
                  <a:schemeClr val="bg1"/>
                </a:solidFill>
              </a:rPr>
              <a:t>cookies</a:t>
            </a: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CA5C99E3-FC3B-AE4D-ADC5-6FE7AB9850B2}"/>
              </a:ext>
            </a:extLst>
          </p:cNvPr>
          <p:cNvSpPr/>
          <p:nvPr/>
        </p:nvSpPr>
        <p:spPr>
          <a:xfrm>
            <a:off x="4449163" y="2912839"/>
            <a:ext cx="1074026" cy="4099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b="1">
                <a:solidFill>
                  <a:schemeClr val="bg1"/>
                </a:solidFill>
              </a:rPr>
              <a:t>anchor</a:t>
            </a: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27BE96E4-FEDF-C14F-A9E3-DAA0F1769CBC}"/>
              </a:ext>
            </a:extLst>
          </p:cNvPr>
          <p:cNvSpPr/>
          <p:nvPr/>
        </p:nvSpPr>
        <p:spPr>
          <a:xfrm>
            <a:off x="4449163" y="3551664"/>
            <a:ext cx="1074026" cy="4099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b="1">
                <a:solidFill>
                  <a:schemeClr val="bg1"/>
                </a:solidFill>
              </a:rPr>
              <a:t>image</a:t>
            </a:r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24854377-5D36-554E-B08E-7DEF3D7F90DF}"/>
              </a:ext>
            </a:extLst>
          </p:cNvPr>
          <p:cNvSpPr/>
          <p:nvPr/>
        </p:nvSpPr>
        <p:spPr>
          <a:xfrm>
            <a:off x="4449163" y="4134992"/>
            <a:ext cx="1074026" cy="4099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b="1" err="1">
                <a:solidFill>
                  <a:schemeClr val="bg1"/>
                </a:solidFill>
              </a:rPr>
              <a:t>plugin</a:t>
            </a:r>
            <a:endParaRPr lang="nl-NL" sz="1600" b="1">
              <a:solidFill>
                <a:schemeClr val="bg1"/>
              </a:solidFill>
            </a:endParaRPr>
          </a:p>
        </p:txBody>
      </p:sp>
      <p:sp>
        <p:nvSpPr>
          <p:cNvPr id="15" name="Rechthoek 14">
            <a:extLst>
              <a:ext uri="{FF2B5EF4-FFF2-40B4-BE49-F238E27FC236}">
                <a16:creationId xmlns:a16="http://schemas.microsoft.com/office/drawing/2014/main" id="{D45A4EE9-53B7-4840-97AA-A53BF0FAF4F1}"/>
              </a:ext>
            </a:extLst>
          </p:cNvPr>
          <p:cNvSpPr/>
          <p:nvPr/>
        </p:nvSpPr>
        <p:spPr>
          <a:xfrm>
            <a:off x="4449163" y="4758053"/>
            <a:ext cx="1074026" cy="4099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b="1" err="1">
                <a:solidFill>
                  <a:schemeClr val="bg1"/>
                </a:solidFill>
              </a:rPr>
              <a:t>layer</a:t>
            </a:r>
            <a:endParaRPr lang="nl-NL" sz="1600" b="1">
              <a:solidFill>
                <a:schemeClr val="bg1"/>
              </a:solidFill>
            </a:endParaRPr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267846A2-4519-9948-A256-A859563568FD}"/>
              </a:ext>
            </a:extLst>
          </p:cNvPr>
          <p:cNvSpPr/>
          <p:nvPr/>
        </p:nvSpPr>
        <p:spPr>
          <a:xfrm>
            <a:off x="5988928" y="1690688"/>
            <a:ext cx="1209341" cy="4099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b="1" err="1">
                <a:solidFill>
                  <a:schemeClr val="bg1"/>
                </a:solidFill>
              </a:rPr>
              <a:t>textarea</a:t>
            </a:r>
            <a:endParaRPr lang="nl-NL" sz="1600" b="1">
              <a:solidFill>
                <a:schemeClr val="bg1"/>
              </a:solidFill>
            </a:endParaRPr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00CDD880-F400-4841-A257-5B0F8AC8FA2A}"/>
              </a:ext>
            </a:extLst>
          </p:cNvPr>
          <p:cNvSpPr/>
          <p:nvPr/>
        </p:nvSpPr>
        <p:spPr>
          <a:xfrm>
            <a:off x="5988928" y="2301764"/>
            <a:ext cx="1209341" cy="4099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b="1" err="1">
                <a:solidFill>
                  <a:schemeClr val="bg1"/>
                </a:solidFill>
              </a:rPr>
              <a:t>text</a:t>
            </a:r>
            <a:endParaRPr lang="nl-NL" sz="1600" b="1">
              <a:solidFill>
                <a:schemeClr val="bg1"/>
              </a:solidFill>
            </a:endParaRPr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3E8DBDCF-9B4E-F042-BDBF-1B3623823A5B}"/>
              </a:ext>
            </a:extLst>
          </p:cNvPr>
          <p:cNvSpPr/>
          <p:nvPr/>
        </p:nvSpPr>
        <p:spPr>
          <a:xfrm>
            <a:off x="5988928" y="2912839"/>
            <a:ext cx="1209341" cy="4099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b="1" err="1">
                <a:solidFill>
                  <a:schemeClr val="bg1"/>
                </a:solidFill>
              </a:rPr>
              <a:t>hdden</a:t>
            </a:r>
            <a:endParaRPr lang="nl-NL" sz="1600" b="1">
              <a:solidFill>
                <a:schemeClr val="bg1"/>
              </a:solidFill>
            </a:endParaRPr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BFFDB1A8-C386-1C43-BB03-E1570F59B7BB}"/>
              </a:ext>
            </a:extLst>
          </p:cNvPr>
          <p:cNvSpPr/>
          <p:nvPr/>
        </p:nvSpPr>
        <p:spPr>
          <a:xfrm>
            <a:off x="5988928" y="3551664"/>
            <a:ext cx="1209341" cy="4099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b="1">
                <a:solidFill>
                  <a:schemeClr val="bg1"/>
                </a:solidFill>
              </a:rPr>
              <a:t>password</a:t>
            </a:r>
          </a:p>
        </p:txBody>
      </p:sp>
      <p:sp>
        <p:nvSpPr>
          <p:cNvPr id="20" name="Rechthoek 19">
            <a:extLst>
              <a:ext uri="{FF2B5EF4-FFF2-40B4-BE49-F238E27FC236}">
                <a16:creationId xmlns:a16="http://schemas.microsoft.com/office/drawing/2014/main" id="{F3331AE6-0467-E841-B759-17D321A40978}"/>
              </a:ext>
            </a:extLst>
          </p:cNvPr>
          <p:cNvSpPr/>
          <p:nvPr/>
        </p:nvSpPr>
        <p:spPr>
          <a:xfrm>
            <a:off x="5988928" y="4134992"/>
            <a:ext cx="1209341" cy="4099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b="1">
                <a:solidFill>
                  <a:schemeClr val="bg1"/>
                </a:solidFill>
              </a:rPr>
              <a:t>radio</a:t>
            </a:r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FAA7556F-D818-C842-AE93-FA5997BFD214}"/>
              </a:ext>
            </a:extLst>
          </p:cNvPr>
          <p:cNvSpPr/>
          <p:nvPr/>
        </p:nvSpPr>
        <p:spPr>
          <a:xfrm>
            <a:off x="5988928" y="4758053"/>
            <a:ext cx="1209341" cy="4099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b="1" err="1">
                <a:solidFill>
                  <a:schemeClr val="bg1"/>
                </a:solidFill>
              </a:rPr>
              <a:t>checkbox</a:t>
            </a:r>
            <a:endParaRPr lang="nl-NL" sz="1600" b="1">
              <a:solidFill>
                <a:schemeClr val="bg1"/>
              </a:solidFill>
            </a:endParaRPr>
          </a:p>
        </p:txBody>
      </p:sp>
      <p:sp>
        <p:nvSpPr>
          <p:cNvPr id="22" name="Rechthoek 21">
            <a:extLst>
              <a:ext uri="{FF2B5EF4-FFF2-40B4-BE49-F238E27FC236}">
                <a16:creationId xmlns:a16="http://schemas.microsoft.com/office/drawing/2014/main" id="{C36A3B67-3BEC-B344-8646-FC11FFD29C48}"/>
              </a:ext>
            </a:extLst>
          </p:cNvPr>
          <p:cNvSpPr/>
          <p:nvPr/>
        </p:nvSpPr>
        <p:spPr>
          <a:xfrm>
            <a:off x="5988928" y="5381114"/>
            <a:ext cx="1209341" cy="4099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b="1">
                <a:solidFill>
                  <a:schemeClr val="bg1"/>
                </a:solidFill>
              </a:rPr>
              <a:t>button</a:t>
            </a:r>
          </a:p>
        </p:txBody>
      </p:sp>
      <p:cxnSp>
        <p:nvCxnSpPr>
          <p:cNvPr id="25" name="Rechte verbindingslijn 24">
            <a:extLst>
              <a:ext uri="{FF2B5EF4-FFF2-40B4-BE49-F238E27FC236}">
                <a16:creationId xmlns:a16="http://schemas.microsoft.com/office/drawing/2014/main" id="{6CA25EE3-C49C-3441-A0E7-CF49750381DD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 flipV="1">
            <a:off x="2443657" y="1895640"/>
            <a:ext cx="465740" cy="1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bogen verbindingslijn 28">
            <a:extLst>
              <a:ext uri="{FF2B5EF4-FFF2-40B4-BE49-F238E27FC236}">
                <a16:creationId xmlns:a16="http://schemas.microsoft.com/office/drawing/2014/main" id="{8299BFA0-70CC-D54E-8558-E00A5465A5DE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2443657" y="1895641"/>
            <a:ext cx="465740" cy="61107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bogen verbindingslijn 29">
            <a:extLst>
              <a:ext uri="{FF2B5EF4-FFF2-40B4-BE49-F238E27FC236}">
                <a16:creationId xmlns:a16="http://schemas.microsoft.com/office/drawing/2014/main" id="{17F54D26-326F-0B4E-B321-4FC8D8CDE05E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2443657" y="1895641"/>
            <a:ext cx="465740" cy="12221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bogen verbindingslijn 32">
            <a:extLst>
              <a:ext uri="{FF2B5EF4-FFF2-40B4-BE49-F238E27FC236}">
                <a16:creationId xmlns:a16="http://schemas.microsoft.com/office/drawing/2014/main" id="{B73D2450-EBDE-8F4C-A730-A56A5E5C0A7E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>
            <a:off x="2443657" y="1895641"/>
            <a:ext cx="465740" cy="183322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bogen verbindingslijn 35">
            <a:extLst>
              <a:ext uri="{FF2B5EF4-FFF2-40B4-BE49-F238E27FC236}">
                <a16:creationId xmlns:a16="http://schemas.microsoft.com/office/drawing/2014/main" id="{A37A7D75-043D-914E-8CAB-C37F9C0A1D96}"/>
              </a:ext>
            </a:extLst>
          </p:cNvPr>
          <p:cNvCxnSpPr>
            <a:cxnSpLocks/>
            <a:stCxn id="3" idx="3"/>
            <a:endCxn id="8" idx="1"/>
          </p:cNvCxnSpPr>
          <p:nvPr/>
        </p:nvCxnSpPr>
        <p:spPr>
          <a:xfrm>
            <a:off x="2443657" y="1895641"/>
            <a:ext cx="465740" cy="24443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bogen verbindingslijn 37">
            <a:extLst>
              <a:ext uri="{FF2B5EF4-FFF2-40B4-BE49-F238E27FC236}">
                <a16:creationId xmlns:a16="http://schemas.microsoft.com/office/drawing/2014/main" id="{FE48F947-4A5F-B94D-8187-63FFF3565BE3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>
            <a:off x="2443657" y="1895641"/>
            <a:ext cx="465740" cy="305537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41">
            <a:extLst>
              <a:ext uri="{FF2B5EF4-FFF2-40B4-BE49-F238E27FC236}">
                <a16:creationId xmlns:a16="http://schemas.microsoft.com/office/drawing/2014/main" id="{DE82D2D4-A5ED-2444-A7C3-FDF1365DBD91}"/>
              </a:ext>
            </a:extLst>
          </p:cNvPr>
          <p:cNvCxnSpPr>
            <a:cxnSpLocks/>
          </p:cNvCxnSpPr>
          <p:nvPr/>
        </p:nvCxnSpPr>
        <p:spPr>
          <a:xfrm flipV="1">
            <a:off x="3983423" y="1899743"/>
            <a:ext cx="465740" cy="1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bogen verbindingslijn 42">
            <a:extLst>
              <a:ext uri="{FF2B5EF4-FFF2-40B4-BE49-F238E27FC236}">
                <a16:creationId xmlns:a16="http://schemas.microsoft.com/office/drawing/2014/main" id="{53E27A8D-22D6-7846-A67D-BCD229B440F9}"/>
              </a:ext>
            </a:extLst>
          </p:cNvPr>
          <p:cNvCxnSpPr>
            <a:cxnSpLocks/>
          </p:cNvCxnSpPr>
          <p:nvPr/>
        </p:nvCxnSpPr>
        <p:spPr>
          <a:xfrm>
            <a:off x="3983423" y="1899744"/>
            <a:ext cx="465740" cy="61107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bogen verbindingslijn 43">
            <a:extLst>
              <a:ext uri="{FF2B5EF4-FFF2-40B4-BE49-F238E27FC236}">
                <a16:creationId xmlns:a16="http://schemas.microsoft.com/office/drawing/2014/main" id="{ECA21609-6310-A745-A6BE-75DCB0B0617C}"/>
              </a:ext>
            </a:extLst>
          </p:cNvPr>
          <p:cNvCxnSpPr>
            <a:cxnSpLocks/>
          </p:cNvCxnSpPr>
          <p:nvPr/>
        </p:nvCxnSpPr>
        <p:spPr>
          <a:xfrm>
            <a:off x="3983423" y="1899744"/>
            <a:ext cx="465740" cy="12221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bogen verbindingslijn 44">
            <a:extLst>
              <a:ext uri="{FF2B5EF4-FFF2-40B4-BE49-F238E27FC236}">
                <a16:creationId xmlns:a16="http://schemas.microsoft.com/office/drawing/2014/main" id="{753AAA67-E19F-4C40-8DE5-FA4C0D8A43E7}"/>
              </a:ext>
            </a:extLst>
          </p:cNvPr>
          <p:cNvCxnSpPr>
            <a:cxnSpLocks/>
          </p:cNvCxnSpPr>
          <p:nvPr/>
        </p:nvCxnSpPr>
        <p:spPr>
          <a:xfrm>
            <a:off x="3983423" y="1899744"/>
            <a:ext cx="465740" cy="183322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bogen verbindingslijn 45">
            <a:extLst>
              <a:ext uri="{FF2B5EF4-FFF2-40B4-BE49-F238E27FC236}">
                <a16:creationId xmlns:a16="http://schemas.microsoft.com/office/drawing/2014/main" id="{79BFB51A-B40B-9A4C-965E-195AFA3F9471}"/>
              </a:ext>
            </a:extLst>
          </p:cNvPr>
          <p:cNvCxnSpPr>
            <a:cxnSpLocks/>
          </p:cNvCxnSpPr>
          <p:nvPr/>
        </p:nvCxnSpPr>
        <p:spPr>
          <a:xfrm>
            <a:off x="3983423" y="1899744"/>
            <a:ext cx="465740" cy="24443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bogen verbindingslijn 46">
            <a:extLst>
              <a:ext uri="{FF2B5EF4-FFF2-40B4-BE49-F238E27FC236}">
                <a16:creationId xmlns:a16="http://schemas.microsoft.com/office/drawing/2014/main" id="{5DFB7369-331E-9043-8C0C-7ABB9E818529}"/>
              </a:ext>
            </a:extLst>
          </p:cNvPr>
          <p:cNvCxnSpPr>
            <a:cxnSpLocks/>
          </p:cNvCxnSpPr>
          <p:nvPr/>
        </p:nvCxnSpPr>
        <p:spPr>
          <a:xfrm>
            <a:off x="3983423" y="1899744"/>
            <a:ext cx="465740" cy="305537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Rechte verbindingslijn 47">
            <a:extLst>
              <a:ext uri="{FF2B5EF4-FFF2-40B4-BE49-F238E27FC236}">
                <a16:creationId xmlns:a16="http://schemas.microsoft.com/office/drawing/2014/main" id="{EEF0F4E7-0544-E845-998D-C267974DD422}"/>
              </a:ext>
            </a:extLst>
          </p:cNvPr>
          <p:cNvCxnSpPr>
            <a:cxnSpLocks/>
          </p:cNvCxnSpPr>
          <p:nvPr/>
        </p:nvCxnSpPr>
        <p:spPr>
          <a:xfrm flipV="1">
            <a:off x="5523189" y="1895639"/>
            <a:ext cx="465740" cy="1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bogen verbindingslijn 48">
            <a:extLst>
              <a:ext uri="{FF2B5EF4-FFF2-40B4-BE49-F238E27FC236}">
                <a16:creationId xmlns:a16="http://schemas.microsoft.com/office/drawing/2014/main" id="{FA81EE72-41B0-2741-A26F-65EBEB64A892}"/>
              </a:ext>
            </a:extLst>
          </p:cNvPr>
          <p:cNvCxnSpPr/>
          <p:nvPr/>
        </p:nvCxnSpPr>
        <p:spPr>
          <a:xfrm>
            <a:off x="5523189" y="1895640"/>
            <a:ext cx="465740" cy="61107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bogen verbindingslijn 49">
            <a:extLst>
              <a:ext uri="{FF2B5EF4-FFF2-40B4-BE49-F238E27FC236}">
                <a16:creationId xmlns:a16="http://schemas.microsoft.com/office/drawing/2014/main" id="{7339E4D6-009E-5142-A67D-7F00108DF4AA}"/>
              </a:ext>
            </a:extLst>
          </p:cNvPr>
          <p:cNvCxnSpPr>
            <a:cxnSpLocks/>
          </p:cNvCxnSpPr>
          <p:nvPr/>
        </p:nvCxnSpPr>
        <p:spPr>
          <a:xfrm>
            <a:off x="5523189" y="1895640"/>
            <a:ext cx="465740" cy="12221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bogen verbindingslijn 50">
            <a:extLst>
              <a:ext uri="{FF2B5EF4-FFF2-40B4-BE49-F238E27FC236}">
                <a16:creationId xmlns:a16="http://schemas.microsoft.com/office/drawing/2014/main" id="{311DBD6F-8632-404B-9F48-C52B153C4F7E}"/>
              </a:ext>
            </a:extLst>
          </p:cNvPr>
          <p:cNvCxnSpPr>
            <a:cxnSpLocks/>
          </p:cNvCxnSpPr>
          <p:nvPr/>
        </p:nvCxnSpPr>
        <p:spPr>
          <a:xfrm>
            <a:off x="5523189" y="1895640"/>
            <a:ext cx="465740" cy="183322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bogen verbindingslijn 51">
            <a:extLst>
              <a:ext uri="{FF2B5EF4-FFF2-40B4-BE49-F238E27FC236}">
                <a16:creationId xmlns:a16="http://schemas.microsoft.com/office/drawing/2014/main" id="{54D0DC06-DF85-A040-8F39-066DB3C1E3D0}"/>
              </a:ext>
            </a:extLst>
          </p:cNvPr>
          <p:cNvCxnSpPr>
            <a:cxnSpLocks/>
          </p:cNvCxnSpPr>
          <p:nvPr/>
        </p:nvCxnSpPr>
        <p:spPr>
          <a:xfrm>
            <a:off x="5523189" y="1895640"/>
            <a:ext cx="465740" cy="24443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bogen verbindingslijn 52">
            <a:extLst>
              <a:ext uri="{FF2B5EF4-FFF2-40B4-BE49-F238E27FC236}">
                <a16:creationId xmlns:a16="http://schemas.microsoft.com/office/drawing/2014/main" id="{FE37F5FE-3E31-404E-B0F1-35BC7C6AC18C}"/>
              </a:ext>
            </a:extLst>
          </p:cNvPr>
          <p:cNvCxnSpPr>
            <a:cxnSpLocks/>
          </p:cNvCxnSpPr>
          <p:nvPr/>
        </p:nvCxnSpPr>
        <p:spPr>
          <a:xfrm>
            <a:off x="5523189" y="1895640"/>
            <a:ext cx="465740" cy="305537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bogen verbindingslijn 55">
            <a:extLst>
              <a:ext uri="{FF2B5EF4-FFF2-40B4-BE49-F238E27FC236}">
                <a16:creationId xmlns:a16="http://schemas.microsoft.com/office/drawing/2014/main" id="{1B95300D-A209-2941-ACD2-11E771BC9C37}"/>
              </a:ext>
            </a:extLst>
          </p:cNvPr>
          <p:cNvCxnSpPr>
            <a:cxnSpLocks/>
            <a:stCxn id="10" idx="3"/>
            <a:endCxn id="22" idx="1"/>
          </p:cNvCxnSpPr>
          <p:nvPr/>
        </p:nvCxnSpPr>
        <p:spPr>
          <a:xfrm>
            <a:off x="5523189" y="1895640"/>
            <a:ext cx="465739" cy="36904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hthoek 60">
            <a:extLst>
              <a:ext uri="{FF2B5EF4-FFF2-40B4-BE49-F238E27FC236}">
                <a16:creationId xmlns:a16="http://schemas.microsoft.com/office/drawing/2014/main" id="{AE162360-3D21-1C41-B683-9827F06D2F7C}"/>
              </a:ext>
            </a:extLst>
          </p:cNvPr>
          <p:cNvSpPr/>
          <p:nvPr/>
        </p:nvSpPr>
        <p:spPr>
          <a:xfrm>
            <a:off x="4449163" y="5385217"/>
            <a:ext cx="1074026" cy="4099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b="1" err="1">
                <a:solidFill>
                  <a:schemeClr val="bg1"/>
                </a:solidFill>
              </a:rPr>
              <a:t>layer</a:t>
            </a:r>
            <a:endParaRPr lang="nl-NL" sz="1600" b="1">
              <a:solidFill>
                <a:schemeClr val="bg1"/>
              </a:solidFill>
            </a:endParaRPr>
          </a:p>
        </p:txBody>
      </p:sp>
      <p:cxnSp>
        <p:nvCxnSpPr>
          <p:cNvPr id="62" name="Gebogen verbindingslijn 61">
            <a:extLst>
              <a:ext uri="{FF2B5EF4-FFF2-40B4-BE49-F238E27FC236}">
                <a16:creationId xmlns:a16="http://schemas.microsoft.com/office/drawing/2014/main" id="{69C63392-64D0-B545-B22B-DD00D0FE24F5}"/>
              </a:ext>
            </a:extLst>
          </p:cNvPr>
          <p:cNvCxnSpPr>
            <a:cxnSpLocks/>
            <a:stCxn id="4" idx="3"/>
            <a:endCxn id="61" idx="1"/>
          </p:cNvCxnSpPr>
          <p:nvPr/>
        </p:nvCxnSpPr>
        <p:spPr>
          <a:xfrm>
            <a:off x="3983423" y="1895640"/>
            <a:ext cx="465740" cy="369452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hthoek 64">
            <a:extLst>
              <a:ext uri="{FF2B5EF4-FFF2-40B4-BE49-F238E27FC236}">
                <a16:creationId xmlns:a16="http://schemas.microsoft.com/office/drawing/2014/main" id="{1F47B310-E1D1-A944-B15D-C07DDB75C821}"/>
              </a:ext>
            </a:extLst>
          </p:cNvPr>
          <p:cNvSpPr/>
          <p:nvPr/>
        </p:nvSpPr>
        <p:spPr>
          <a:xfrm>
            <a:off x="5995500" y="6004175"/>
            <a:ext cx="1209341" cy="4099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b="1">
                <a:solidFill>
                  <a:schemeClr val="bg1"/>
                </a:solidFill>
              </a:rPr>
              <a:t>file upload</a:t>
            </a:r>
          </a:p>
        </p:txBody>
      </p:sp>
      <p:cxnSp>
        <p:nvCxnSpPr>
          <p:cNvPr id="67" name="Gebogen verbindingslijn 66">
            <a:extLst>
              <a:ext uri="{FF2B5EF4-FFF2-40B4-BE49-F238E27FC236}">
                <a16:creationId xmlns:a16="http://schemas.microsoft.com/office/drawing/2014/main" id="{E16D1C4F-2258-6D4A-A11F-219A987F2FC0}"/>
              </a:ext>
            </a:extLst>
          </p:cNvPr>
          <p:cNvCxnSpPr>
            <a:cxnSpLocks/>
            <a:stCxn id="10" idx="3"/>
            <a:endCxn id="65" idx="1"/>
          </p:cNvCxnSpPr>
          <p:nvPr/>
        </p:nvCxnSpPr>
        <p:spPr>
          <a:xfrm>
            <a:off x="5523189" y="1895640"/>
            <a:ext cx="472311" cy="431348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21377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err="1"/>
              <a:t>Methods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28650" y="1825626"/>
            <a:ext cx="7886700" cy="2281680"/>
          </a:xfrm>
        </p:spPr>
        <p:txBody>
          <a:bodyPr numCol="2"/>
          <a:lstStyle/>
          <a:p>
            <a:r>
              <a:rPr lang="nl-NL" err="1"/>
              <a:t>window.alert</a:t>
            </a:r>
            <a:r>
              <a:rPr lang="nl-NL"/>
              <a:t>()</a:t>
            </a:r>
          </a:p>
          <a:p>
            <a:r>
              <a:rPr lang="nl-NL" err="1"/>
              <a:t>window.prompt</a:t>
            </a:r>
            <a:r>
              <a:rPr lang="nl-NL"/>
              <a:t>()</a:t>
            </a:r>
          </a:p>
          <a:p>
            <a:r>
              <a:rPr lang="nl-NL" err="1"/>
              <a:t>window.confirm</a:t>
            </a:r>
            <a:r>
              <a:rPr lang="nl-NL"/>
              <a:t>()</a:t>
            </a:r>
          </a:p>
          <a:p>
            <a:r>
              <a:rPr lang="nl-NL" err="1"/>
              <a:t>window.open</a:t>
            </a:r>
            <a:r>
              <a:rPr lang="nl-NL"/>
              <a:t>()</a:t>
            </a:r>
          </a:p>
          <a:p>
            <a:endParaRPr lang="nl-NL"/>
          </a:p>
          <a:p>
            <a:r>
              <a:rPr lang="nl-NL" err="1"/>
              <a:t>window.navigator</a:t>
            </a:r>
            <a:endParaRPr lang="nl-NL"/>
          </a:p>
          <a:p>
            <a:r>
              <a:rPr lang="nl-NL" err="1"/>
              <a:t>window.location</a:t>
            </a:r>
            <a:endParaRPr lang="nl-NL"/>
          </a:p>
          <a:p>
            <a:r>
              <a:rPr lang="nl-NL" err="1"/>
              <a:t>window.status</a:t>
            </a:r>
            <a:endParaRPr lang="nl-NL"/>
          </a:p>
          <a:p>
            <a:r>
              <a:rPr lang="nl-NL" err="1"/>
              <a:t>window.screen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803297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Oefening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Oefening 7: Gebruik van objecten</a:t>
            </a:r>
            <a:br>
              <a:rPr lang="nl-NL" dirty="0"/>
            </a:br>
            <a:r>
              <a:rPr lang="nl-NL" dirty="0"/>
              <a:t>blz. 122 - 123</a:t>
            </a:r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57" y="5228627"/>
            <a:ext cx="1296987" cy="125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97883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Document object model - DOM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2236709"/>
          </a:xfrm>
        </p:spPr>
        <p:txBody>
          <a:bodyPr numCol="2">
            <a:normAutofit lnSpcReduction="10000"/>
          </a:bodyPr>
          <a:lstStyle/>
          <a:p>
            <a:r>
              <a:rPr lang="nl-NL"/>
              <a:t>Elementen op form</a:t>
            </a:r>
          </a:p>
          <a:p>
            <a:r>
              <a:rPr lang="nl-NL"/>
              <a:t>forms array</a:t>
            </a:r>
          </a:p>
          <a:p>
            <a:r>
              <a:rPr lang="nl-NL"/>
              <a:t>document.clear()</a:t>
            </a:r>
          </a:p>
          <a:p>
            <a:r>
              <a:rPr lang="nl-NL"/>
              <a:t>document.close()</a:t>
            </a:r>
          </a:p>
          <a:p>
            <a:r>
              <a:rPr lang="nl-NL"/>
              <a:t>document.open()</a:t>
            </a:r>
          </a:p>
          <a:p>
            <a:r>
              <a:rPr lang="nl-NL"/>
              <a:t>document.write()</a:t>
            </a:r>
          </a:p>
          <a:p>
            <a:r>
              <a:rPr lang="nl-NL"/>
              <a:t>document.writeln()</a:t>
            </a:r>
          </a:p>
          <a:p>
            <a:r>
              <a:rPr lang="nl-NL"/>
              <a:t>document.bgColor</a:t>
            </a:r>
          </a:p>
          <a:p>
            <a:r>
              <a:rPr lang="nl-NL"/>
              <a:t>document.title</a:t>
            </a:r>
          </a:p>
          <a:p>
            <a:r>
              <a:rPr lang="nl-NL"/>
              <a:t>document.location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16362" y="4665046"/>
            <a:ext cx="8295838" cy="2035906"/>
          </a:xfrm>
        </p:spPr>
        <p:txBody>
          <a:bodyPr/>
          <a:lstStyle/>
          <a:p>
            <a:r>
              <a:rPr lang="nl-NL"/>
              <a:t>&lt;html&gt;</a:t>
            </a:r>
          </a:p>
          <a:p>
            <a:r>
              <a:rPr lang="nl-NL"/>
              <a:t>&lt;body&gt;</a:t>
            </a:r>
          </a:p>
          <a:p>
            <a:r>
              <a:rPr lang="nl-NL"/>
              <a:t>	&lt;form name=</a:t>
            </a:r>
            <a:r>
              <a:rPr lang="en-US"/>
              <a:t>"</a:t>
            </a:r>
            <a:r>
              <a:rPr lang="en-US" err="1"/>
              <a:t>invul</a:t>
            </a:r>
            <a:r>
              <a:rPr lang="en-US"/>
              <a:t>"&gt;</a:t>
            </a:r>
          </a:p>
          <a:p>
            <a:r>
              <a:rPr lang="en-US"/>
              <a:t>		&lt;input type="text" name="</a:t>
            </a:r>
            <a:r>
              <a:rPr lang="en-US" err="1"/>
              <a:t>adres</a:t>
            </a:r>
            <a:r>
              <a:rPr lang="en-US"/>
              <a:t>" value="</a:t>
            </a:r>
            <a:r>
              <a:rPr lang="en-US" err="1"/>
              <a:t>Daltonlaan</a:t>
            </a:r>
            <a:r>
              <a:rPr lang="en-US"/>
              <a:t> 2"&gt;</a:t>
            </a:r>
          </a:p>
          <a:p>
            <a:r>
              <a:rPr lang="en-US"/>
              <a:t>	&lt;/form&gt;</a:t>
            </a:r>
          </a:p>
          <a:p>
            <a:r>
              <a:rPr lang="en-US"/>
              <a:t>	&lt;script&gt;</a:t>
            </a:r>
          </a:p>
          <a:p>
            <a:r>
              <a:rPr lang="en-US"/>
              <a:t>		alert( </a:t>
            </a:r>
            <a:r>
              <a:rPr lang="en-US" err="1"/>
              <a:t>window.document.invul.adres.value</a:t>
            </a:r>
            <a:r>
              <a:rPr lang="en-US"/>
              <a:t> )</a:t>
            </a:r>
          </a:p>
          <a:p>
            <a:r>
              <a:rPr lang="en-US"/>
              <a:t>	&lt;/script&gt;</a:t>
            </a:r>
          </a:p>
          <a:p>
            <a:r>
              <a:rPr lang="en-US"/>
              <a:t>&lt;/body&gt;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650163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err="1"/>
              <a:t>getElementById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947555"/>
          </a:xfrm>
        </p:spPr>
        <p:txBody>
          <a:bodyPr numCol="2"/>
          <a:lstStyle/>
          <a:p>
            <a:r>
              <a:rPr lang="nl-NL" err="1"/>
              <a:t>getElementById</a:t>
            </a:r>
            <a:r>
              <a:rPr lang="nl-NL"/>
              <a:t>()</a:t>
            </a:r>
          </a:p>
          <a:p>
            <a:r>
              <a:rPr lang="nl-NL" err="1"/>
              <a:t>innerHTML</a:t>
            </a:r>
            <a:endParaRPr lang="nl-NL"/>
          </a:p>
          <a:p>
            <a:r>
              <a:rPr lang="nl-NL" err="1"/>
              <a:t>getElementsByTagName</a:t>
            </a:r>
            <a:r>
              <a:rPr lang="nl-NL"/>
              <a:t>()</a:t>
            </a:r>
          </a:p>
          <a:p>
            <a:r>
              <a:rPr lang="nl-NL" err="1"/>
              <a:t>style</a:t>
            </a:r>
            <a:r>
              <a:rPr lang="nl-NL"/>
              <a:t>, </a:t>
            </a:r>
            <a:r>
              <a:rPr lang="nl-NL" err="1"/>
              <a:t>className</a:t>
            </a:r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16362" y="3289091"/>
            <a:ext cx="8295838" cy="3393200"/>
          </a:xfrm>
        </p:spPr>
        <p:txBody>
          <a:bodyPr/>
          <a:lstStyle/>
          <a:p>
            <a:r>
              <a:rPr lang="nl-NL"/>
              <a:t>&lt;html&gt;</a:t>
            </a:r>
          </a:p>
          <a:p>
            <a:r>
              <a:rPr lang="nl-NL"/>
              <a:t>&lt;body&gt;</a:t>
            </a:r>
          </a:p>
          <a:p>
            <a:r>
              <a:rPr lang="nl-NL"/>
              <a:t>	&lt;h1&gt;Invoer: &lt;span </a:t>
            </a:r>
            <a:r>
              <a:rPr lang="nl-NL" err="1"/>
              <a:t>id</a:t>
            </a:r>
            <a:r>
              <a:rPr lang="nl-NL"/>
              <a:t>=</a:t>
            </a:r>
            <a:r>
              <a:rPr lang="en-US"/>
              <a:t>"</a:t>
            </a:r>
            <a:r>
              <a:rPr lang="en-US" err="1"/>
              <a:t>uitvoer</a:t>
            </a:r>
            <a:r>
              <a:rPr lang="en-US"/>
              <a:t>"</a:t>
            </a:r>
            <a:r>
              <a:rPr lang="nl-NL"/>
              <a:t>&gt;&lt;/span&gt;&lt;/h1&gt;</a:t>
            </a:r>
          </a:p>
          <a:p>
            <a:endParaRPr lang="nl-NL"/>
          </a:p>
          <a:p>
            <a:r>
              <a:rPr lang="nl-NL"/>
              <a:t>	&lt;script&gt;</a:t>
            </a:r>
          </a:p>
          <a:p>
            <a:r>
              <a:rPr lang="nl-NL"/>
              <a:t>		var </a:t>
            </a:r>
            <a:r>
              <a:rPr lang="nl-NL" err="1"/>
              <a:t>spanElement</a:t>
            </a:r>
            <a:r>
              <a:rPr lang="nl-NL"/>
              <a:t> = </a:t>
            </a:r>
            <a:r>
              <a:rPr lang="nl-NL" err="1"/>
              <a:t>document.getElementById</a:t>
            </a:r>
            <a:r>
              <a:rPr lang="nl-NL"/>
              <a:t>(</a:t>
            </a:r>
            <a:r>
              <a:rPr lang="en-US"/>
              <a:t>"</a:t>
            </a:r>
            <a:r>
              <a:rPr lang="en-US" err="1"/>
              <a:t>uitvoer</a:t>
            </a:r>
            <a:r>
              <a:rPr lang="en-US"/>
              <a:t>"</a:t>
            </a:r>
            <a:r>
              <a:rPr lang="nl-NL"/>
              <a:t>);</a:t>
            </a:r>
          </a:p>
          <a:p>
            <a:endParaRPr lang="nl-NL"/>
          </a:p>
          <a:p>
            <a:r>
              <a:rPr lang="nl-NL"/>
              <a:t>		var invoer</a:t>
            </a:r>
            <a:r>
              <a:rPr lang="en-US"/>
              <a:t>;</a:t>
            </a:r>
            <a:endParaRPr lang="nl-NL"/>
          </a:p>
          <a:p>
            <a:r>
              <a:rPr lang="nl-NL"/>
              <a:t>		do {</a:t>
            </a:r>
          </a:p>
          <a:p>
            <a:r>
              <a:rPr lang="nl-NL"/>
              <a:t>			invoer = </a:t>
            </a:r>
            <a:r>
              <a:rPr lang="nl-NL" err="1"/>
              <a:t>window.prompt</a:t>
            </a:r>
            <a:r>
              <a:rPr lang="nl-NL"/>
              <a:t>(</a:t>
            </a:r>
            <a:r>
              <a:rPr lang="en-US"/>
              <a:t>"</a:t>
            </a:r>
            <a:r>
              <a:rPr lang="en-US" err="1"/>
              <a:t>Voer</a:t>
            </a:r>
            <a:r>
              <a:rPr lang="en-US"/>
              <a:t> </a:t>
            </a:r>
            <a:r>
              <a:rPr lang="en-US" err="1"/>
              <a:t>iets</a:t>
            </a:r>
            <a:r>
              <a:rPr lang="en-US"/>
              <a:t> in"</a:t>
            </a:r>
            <a:r>
              <a:rPr lang="nl-NL"/>
              <a:t>);</a:t>
            </a:r>
          </a:p>
          <a:p>
            <a:r>
              <a:rPr lang="nl-NL"/>
              <a:t>			</a:t>
            </a:r>
            <a:r>
              <a:rPr lang="nl-NL" err="1"/>
              <a:t>spanElement.innerHTML</a:t>
            </a:r>
            <a:r>
              <a:rPr lang="nl-NL"/>
              <a:t> = invoer;</a:t>
            </a:r>
          </a:p>
          <a:p>
            <a:r>
              <a:rPr lang="nl-NL"/>
              <a:t>		} </a:t>
            </a:r>
            <a:r>
              <a:rPr lang="nl-NL" err="1"/>
              <a:t>while</a:t>
            </a:r>
            <a:r>
              <a:rPr lang="nl-NL"/>
              <a:t> (invoer != </a:t>
            </a:r>
            <a:r>
              <a:rPr lang="nl-NL" err="1"/>
              <a:t>null</a:t>
            </a:r>
            <a:r>
              <a:rPr lang="nl-NL"/>
              <a:t>); </a:t>
            </a:r>
          </a:p>
          <a:p>
            <a:r>
              <a:rPr lang="nl-NL"/>
              <a:t>	&lt;/script&gt;</a:t>
            </a:r>
          </a:p>
          <a:p>
            <a:endParaRPr lang="nl-NL"/>
          </a:p>
          <a:p>
            <a:r>
              <a:rPr lang="nl-NL"/>
              <a:t>&lt;/body&gt;</a:t>
            </a:r>
          </a:p>
          <a:p>
            <a:r>
              <a:rPr lang="nl-NL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7203015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8515350" cy="1325563"/>
          </a:xfrm>
        </p:spPr>
        <p:txBody>
          <a:bodyPr/>
          <a:lstStyle/>
          <a:p>
            <a:r>
              <a:rPr lang="nl-NL" dirty="0"/>
              <a:t>Oefening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Oefening 8: Gebruik van DOM-objecten</a:t>
            </a:r>
            <a:br>
              <a:rPr lang="nl-NL" dirty="0"/>
            </a:br>
            <a:r>
              <a:rPr lang="nl-NL" dirty="0"/>
              <a:t>blz. 124</a:t>
            </a:r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57" y="5228627"/>
            <a:ext cx="1296987" cy="125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24395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Events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/>
              <a:t>event </a:t>
            </a:r>
            <a:r>
              <a:rPr lang="nl-NL" err="1"/>
              <a:t>handler</a:t>
            </a:r>
            <a:endParaRPr lang="nl-NL"/>
          </a:p>
          <a:p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16362" y="6026055"/>
            <a:ext cx="8295838" cy="484712"/>
          </a:xfrm>
        </p:spPr>
        <p:txBody>
          <a:bodyPr/>
          <a:lstStyle/>
          <a:p>
            <a:r>
              <a:rPr lang="nl-NL"/>
              <a:t>&lt;input type=</a:t>
            </a:r>
            <a:r>
              <a:rPr lang="en-US"/>
              <a:t>"button" value="</a:t>
            </a:r>
            <a:r>
              <a:rPr lang="en-US" err="1"/>
              <a:t>Klik</a:t>
            </a:r>
            <a:r>
              <a:rPr lang="en-US"/>
              <a:t> </a:t>
            </a:r>
            <a:r>
              <a:rPr lang="en-US" err="1"/>
              <a:t>hier</a:t>
            </a:r>
            <a:r>
              <a:rPr lang="en-US"/>
              <a:t>" </a:t>
            </a:r>
            <a:r>
              <a:rPr lang="en-US" err="1"/>
              <a:t>onclick</a:t>
            </a:r>
            <a:r>
              <a:rPr lang="en-US"/>
              <a:t>="</a:t>
            </a:r>
            <a:r>
              <a:rPr lang="en-US" err="1"/>
              <a:t>window.alert</a:t>
            </a:r>
            <a:r>
              <a:rPr lang="en-US"/>
              <a:t>('CLICK')"&gt;</a:t>
            </a:r>
            <a:endParaRPr lang="nl-NL"/>
          </a:p>
        </p:txBody>
      </p:sp>
      <p:sp>
        <p:nvSpPr>
          <p:cNvPr id="5" name="Tekstvak 4"/>
          <p:cNvSpPr txBox="1"/>
          <p:nvPr/>
        </p:nvSpPr>
        <p:spPr>
          <a:xfrm>
            <a:off x="5433954" y="451128"/>
            <a:ext cx="1878940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nl-NL" err="1"/>
              <a:t>onload</a:t>
            </a:r>
            <a:endParaRPr lang="nl-NL"/>
          </a:p>
          <a:p>
            <a:r>
              <a:rPr lang="nl-NL" err="1"/>
              <a:t>onclick</a:t>
            </a:r>
            <a:endParaRPr lang="nl-NL"/>
          </a:p>
          <a:p>
            <a:r>
              <a:rPr lang="nl-NL" err="1"/>
              <a:t>onfocus</a:t>
            </a:r>
            <a:endParaRPr lang="nl-NL"/>
          </a:p>
          <a:p>
            <a:r>
              <a:rPr lang="nl-NL" err="1"/>
              <a:t>onblur</a:t>
            </a:r>
            <a:endParaRPr lang="nl-NL"/>
          </a:p>
          <a:p>
            <a:r>
              <a:rPr lang="nl-NL" err="1"/>
              <a:t>onchange</a:t>
            </a:r>
            <a:endParaRPr lang="nl-NL"/>
          </a:p>
          <a:p>
            <a:r>
              <a:rPr lang="nl-NL" err="1"/>
              <a:t>onselect</a:t>
            </a:r>
            <a:endParaRPr lang="nl-NL"/>
          </a:p>
          <a:p>
            <a:r>
              <a:rPr lang="nl-NL" err="1"/>
              <a:t>onmouseover</a:t>
            </a:r>
            <a:endParaRPr lang="nl-NL"/>
          </a:p>
          <a:p>
            <a:r>
              <a:rPr lang="nl-NL" err="1"/>
              <a:t>onmouseout</a:t>
            </a:r>
            <a:endParaRPr lang="nl-NL"/>
          </a:p>
          <a:p>
            <a:r>
              <a:rPr lang="nl-NL" err="1"/>
              <a:t>onsubmit</a:t>
            </a:r>
            <a:endParaRPr lang="nl-NL"/>
          </a:p>
        </p:txBody>
      </p:sp>
      <p:sp>
        <p:nvSpPr>
          <p:cNvPr id="7" name="Tijdelijke aanduiding voor tekst 3"/>
          <p:cNvSpPr txBox="1">
            <a:spLocks/>
          </p:cNvSpPr>
          <p:nvPr/>
        </p:nvSpPr>
        <p:spPr>
          <a:xfrm>
            <a:off x="424081" y="3392488"/>
            <a:ext cx="8295838" cy="242370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144000" tIns="144000" rIns="144000" bIns="144000" rtlCol="0" anchor="b">
            <a:spAutoFit/>
          </a:bodyPr>
          <a:lstStyle>
            <a:lvl1pPr indent="0" defTabSz="261245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nl-NL" sz="1400" b="1" spc="45" dirty="0">
                <a:solidFill>
                  <a:schemeClr val="bg1"/>
                </a:solidFill>
                <a:latin typeface="Consolas" charset="0"/>
                <a:ea typeface="Consolas" charset="0"/>
                <a:cs typeface="Consolas" charset="0"/>
              </a:defRPr>
            </a:lvl1pPr>
            <a:lvl2pPr marL="714375" indent="-357188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lang="en-US" sz="1633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2pPr>
            <a:lvl3pPr marL="1071563" indent="-35718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633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633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NL" sz="1633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nl-NL"/>
              <a:t>&lt;html&gt;</a:t>
            </a:r>
          </a:p>
          <a:p>
            <a:r>
              <a:rPr lang="nl-NL"/>
              <a:t>	&lt;</a:t>
            </a:r>
            <a:r>
              <a:rPr lang="nl-NL" err="1"/>
              <a:t>head</a:t>
            </a:r>
            <a:r>
              <a:rPr lang="nl-NL"/>
              <a:t>&gt;</a:t>
            </a:r>
          </a:p>
          <a:p>
            <a:r>
              <a:rPr lang="nl-NL"/>
              <a:t>		&lt;script&gt;</a:t>
            </a:r>
          </a:p>
          <a:p>
            <a:r>
              <a:rPr lang="nl-NL"/>
              <a:t>			</a:t>
            </a:r>
            <a:r>
              <a:rPr lang="nl-NL" err="1"/>
              <a:t>function</a:t>
            </a:r>
            <a:r>
              <a:rPr lang="nl-NL"/>
              <a:t> start() {</a:t>
            </a:r>
          </a:p>
          <a:p>
            <a:r>
              <a:rPr lang="nl-NL"/>
              <a:t>				alert(</a:t>
            </a:r>
            <a:r>
              <a:rPr lang="en-US"/>
              <a:t>"Document is loaded!"</a:t>
            </a:r>
            <a:r>
              <a:rPr lang="nl-NL"/>
              <a:t>);</a:t>
            </a:r>
          </a:p>
          <a:p>
            <a:r>
              <a:rPr lang="nl-NL"/>
              <a:t>			}</a:t>
            </a:r>
          </a:p>
          <a:p>
            <a:r>
              <a:rPr lang="nl-NL"/>
              <a:t>		&lt;/script&gt;</a:t>
            </a:r>
          </a:p>
          <a:p>
            <a:r>
              <a:rPr lang="nl-NL"/>
              <a:t>	&lt;/</a:t>
            </a:r>
            <a:r>
              <a:rPr lang="nl-NL" err="1"/>
              <a:t>head</a:t>
            </a:r>
            <a:r>
              <a:rPr lang="nl-NL"/>
              <a:t>&gt;</a:t>
            </a:r>
          </a:p>
          <a:p>
            <a:r>
              <a:rPr lang="nl-NL"/>
              <a:t>	&lt;body </a:t>
            </a:r>
            <a:r>
              <a:rPr lang="nl-NL" err="1"/>
              <a:t>onload</a:t>
            </a:r>
            <a:r>
              <a:rPr lang="nl-NL"/>
              <a:t>=</a:t>
            </a:r>
            <a:r>
              <a:rPr lang="en-US"/>
              <a:t>"start()"&gt;</a:t>
            </a:r>
          </a:p>
          <a:p>
            <a:r>
              <a:rPr lang="en-US"/>
              <a:t>	&lt;/body&gt;</a:t>
            </a:r>
          </a:p>
          <a:p>
            <a:r>
              <a:rPr lang="en-US"/>
              <a:t>&lt;/html&gt;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74979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err="1"/>
              <a:t>this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/>
              <a:t>target element: </a:t>
            </a:r>
            <a:r>
              <a:rPr lang="nl-NL" err="1"/>
              <a:t>this</a:t>
            </a:r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24081" y="5573061"/>
            <a:ext cx="8288120" cy="1066409"/>
          </a:xfrm>
        </p:spPr>
        <p:txBody>
          <a:bodyPr/>
          <a:lstStyle/>
          <a:p>
            <a:r>
              <a:rPr lang="nl-NL"/>
              <a:t>&lt;div </a:t>
            </a:r>
            <a:r>
              <a:rPr lang="nl-NL" err="1"/>
              <a:t>onmouseover</a:t>
            </a:r>
            <a:r>
              <a:rPr lang="nl-NL"/>
              <a:t>=</a:t>
            </a:r>
            <a:r>
              <a:rPr lang="en-US"/>
              <a:t>"</a:t>
            </a:r>
            <a:r>
              <a:rPr lang="en-US" err="1"/>
              <a:t>this.style.color</a:t>
            </a:r>
            <a:r>
              <a:rPr lang="en-US"/>
              <a:t>='green'" </a:t>
            </a:r>
          </a:p>
          <a:p>
            <a:r>
              <a:rPr lang="en-US"/>
              <a:t>     </a:t>
            </a:r>
            <a:r>
              <a:rPr lang="en-US" err="1"/>
              <a:t>onmouseout</a:t>
            </a:r>
            <a:r>
              <a:rPr lang="en-US"/>
              <a:t>="</a:t>
            </a:r>
            <a:r>
              <a:rPr lang="en-US" err="1"/>
              <a:t>this.style.color</a:t>
            </a:r>
            <a:r>
              <a:rPr lang="en-US"/>
              <a:t>='black'"</a:t>
            </a:r>
            <a:r>
              <a:rPr lang="nl-NL"/>
              <a:t>&gt;</a:t>
            </a:r>
          </a:p>
          <a:p>
            <a:r>
              <a:rPr lang="nl-NL"/>
              <a:t>	Deze tekst wordt groen als de muis erboven hangt</a:t>
            </a:r>
          </a:p>
          <a:p>
            <a:r>
              <a:rPr lang="nl-NL"/>
              <a:t>&lt;/div&gt;</a:t>
            </a:r>
          </a:p>
        </p:txBody>
      </p:sp>
      <p:sp>
        <p:nvSpPr>
          <p:cNvPr id="5" name="Tijdelijke aanduiding voor tekst 3"/>
          <p:cNvSpPr txBox="1">
            <a:spLocks/>
          </p:cNvSpPr>
          <p:nvPr/>
        </p:nvSpPr>
        <p:spPr>
          <a:xfrm>
            <a:off x="424081" y="2883493"/>
            <a:ext cx="8295838" cy="242370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144000" tIns="144000" rIns="144000" bIns="144000" rtlCol="0" anchor="b">
            <a:spAutoFit/>
          </a:bodyPr>
          <a:lstStyle>
            <a:lvl1pPr indent="0" defTabSz="261245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nl-NL" sz="1400" b="1" spc="45" dirty="0">
                <a:solidFill>
                  <a:schemeClr val="bg1"/>
                </a:solidFill>
                <a:latin typeface="Consolas" charset="0"/>
                <a:ea typeface="Consolas" charset="0"/>
                <a:cs typeface="Consolas" charset="0"/>
              </a:defRPr>
            </a:lvl1pPr>
            <a:lvl2pPr marL="714375" indent="-357188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lang="en-US" sz="1633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2pPr>
            <a:lvl3pPr marL="1071563" indent="-35718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633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633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NL" sz="1633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nl-NL" err="1"/>
              <a:t>function</a:t>
            </a:r>
            <a:r>
              <a:rPr lang="nl-NL"/>
              <a:t> </a:t>
            </a:r>
            <a:r>
              <a:rPr lang="nl-NL" err="1"/>
              <a:t>modifyColor</a:t>
            </a:r>
            <a:r>
              <a:rPr lang="nl-NL"/>
              <a:t>(element) {</a:t>
            </a:r>
          </a:p>
          <a:p>
            <a:r>
              <a:rPr lang="nl-NL"/>
              <a:t>	</a:t>
            </a:r>
            <a:r>
              <a:rPr lang="nl-NL" err="1"/>
              <a:t>if</a:t>
            </a:r>
            <a:r>
              <a:rPr lang="nl-NL"/>
              <a:t> (</a:t>
            </a:r>
            <a:r>
              <a:rPr lang="nl-NL" err="1"/>
              <a:t>element.style.color</a:t>
            </a:r>
            <a:r>
              <a:rPr lang="nl-NL"/>
              <a:t> == </a:t>
            </a:r>
            <a:r>
              <a:rPr lang="en-US"/>
              <a:t>"red"</a:t>
            </a:r>
            <a:r>
              <a:rPr lang="nl-NL"/>
              <a:t>)</a:t>
            </a:r>
          </a:p>
          <a:p>
            <a:r>
              <a:rPr lang="nl-NL"/>
              <a:t>		 </a:t>
            </a:r>
            <a:r>
              <a:rPr lang="nl-NL" err="1"/>
              <a:t>element.style.color</a:t>
            </a:r>
            <a:r>
              <a:rPr lang="nl-NL"/>
              <a:t> = </a:t>
            </a:r>
            <a:r>
              <a:rPr lang="en-US"/>
              <a:t>"black";</a:t>
            </a:r>
          </a:p>
          <a:p>
            <a:r>
              <a:rPr lang="en-US"/>
              <a:t>	else</a:t>
            </a:r>
            <a:endParaRPr lang="nl-NL"/>
          </a:p>
          <a:p>
            <a:r>
              <a:rPr lang="nl-NL"/>
              <a:t>		 </a:t>
            </a:r>
            <a:r>
              <a:rPr lang="nl-NL" err="1"/>
              <a:t>element.style.color</a:t>
            </a:r>
            <a:r>
              <a:rPr lang="nl-NL"/>
              <a:t> = </a:t>
            </a:r>
            <a:r>
              <a:rPr lang="en-US"/>
              <a:t>"red";</a:t>
            </a:r>
          </a:p>
          <a:p>
            <a:r>
              <a:rPr lang="nl-NL"/>
              <a:t>}</a:t>
            </a:r>
          </a:p>
          <a:p>
            <a:endParaRPr lang="nl-NL"/>
          </a:p>
          <a:p>
            <a:endParaRPr lang="nl-NL"/>
          </a:p>
          <a:p>
            <a:r>
              <a:rPr lang="nl-NL"/>
              <a:t>&lt;div </a:t>
            </a:r>
            <a:r>
              <a:rPr lang="nl-NL" err="1"/>
              <a:t>onclick</a:t>
            </a:r>
            <a:r>
              <a:rPr lang="nl-NL"/>
              <a:t>=</a:t>
            </a:r>
            <a:r>
              <a:rPr lang="en-US"/>
              <a:t>"</a:t>
            </a:r>
            <a:r>
              <a:rPr lang="en-US" err="1"/>
              <a:t>modifyColor</a:t>
            </a:r>
            <a:r>
              <a:rPr lang="en-US"/>
              <a:t>(this)"&gt;</a:t>
            </a:r>
            <a:r>
              <a:rPr lang="en-US" err="1"/>
              <a:t>Een</a:t>
            </a:r>
            <a:r>
              <a:rPr lang="en-US"/>
              <a:t> regel </a:t>
            </a:r>
            <a:r>
              <a:rPr lang="en-US" err="1"/>
              <a:t>tekst</a:t>
            </a:r>
            <a:r>
              <a:rPr lang="en-US"/>
              <a:t>&lt;/div&gt;</a:t>
            </a:r>
          </a:p>
          <a:p>
            <a:endParaRPr lang="nl-NL"/>
          </a:p>
          <a:p>
            <a:r>
              <a:rPr lang="nl-NL"/>
              <a:t>&lt;div </a:t>
            </a:r>
            <a:r>
              <a:rPr lang="nl-NL" err="1"/>
              <a:t>onclick</a:t>
            </a:r>
            <a:r>
              <a:rPr lang="nl-NL"/>
              <a:t>=</a:t>
            </a:r>
            <a:r>
              <a:rPr lang="en-US"/>
              <a:t>"</a:t>
            </a:r>
            <a:r>
              <a:rPr lang="en-US" err="1"/>
              <a:t>modifyColor</a:t>
            </a:r>
            <a:r>
              <a:rPr lang="en-US"/>
              <a:t>(this)"&gt;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err="1"/>
              <a:t>tweede</a:t>
            </a:r>
            <a:r>
              <a:rPr lang="en-US"/>
              <a:t> regel </a:t>
            </a:r>
            <a:r>
              <a:rPr lang="en-US" err="1"/>
              <a:t>tekst</a:t>
            </a:r>
            <a:r>
              <a:rPr lang="en-US"/>
              <a:t>&lt;/div&gt;</a:t>
            </a:r>
          </a:p>
        </p:txBody>
      </p:sp>
    </p:spTree>
    <p:extLst>
      <p:ext uri="{BB962C8B-B14F-4D97-AF65-F5344CB8AC3E}">
        <p14:creationId xmlns:p14="http://schemas.microsoft.com/office/powerpoint/2010/main" val="15901848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Eventhandler</a:t>
            </a:r>
          </a:p>
          <a:p>
            <a:r>
              <a:rPr lang="en-US"/>
              <a:t>onClick attribute of addEventListener</a:t>
            </a:r>
          </a:p>
          <a:p>
            <a:r>
              <a:rPr lang="en-US"/>
              <a:t>Argument event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 event handler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56481" y="5790331"/>
            <a:ext cx="8295838" cy="872510"/>
          </a:xfrm>
        </p:spPr>
        <p:txBody>
          <a:bodyPr/>
          <a:lstStyle/>
          <a:p>
            <a:r>
              <a:rPr lang="en-US" sz="1400" b="1"/>
              <a:t>&lt;body </a:t>
            </a:r>
            <a:r>
              <a:rPr lang="en-US" sz="1400" b="1" err="1"/>
              <a:t>onload</a:t>
            </a:r>
            <a:r>
              <a:rPr lang="en-US" sz="1400" b="1"/>
              <a:t>=</a:t>
            </a:r>
            <a:r>
              <a:rPr lang="en-US" sz="1400"/>
              <a:t> "</a:t>
            </a:r>
            <a:r>
              <a:rPr lang="en-US" sz="1400" b="1"/>
              <a:t>start()</a:t>
            </a:r>
            <a:r>
              <a:rPr lang="en-US" sz="1400"/>
              <a:t>“&gt;</a:t>
            </a:r>
          </a:p>
          <a:p>
            <a:r>
              <a:rPr lang="en-US" sz="1400"/>
              <a:t>  &lt;div id="mydiv"&gt;&lt;/div&gt;</a:t>
            </a:r>
          </a:p>
          <a:p>
            <a:r>
              <a:rPr lang="en-US" sz="1400" b="1"/>
              <a:t>&lt;/body&gt;</a:t>
            </a:r>
          </a:p>
        </p:txBody>
      </p:sp>
      <p:sp>
        <p:nvSpPr>
          <p:cNvPr id="5" name="Text Placeholder 3"/>
          <p:cNvSpPr txBox="1">
            <a:spLocks/>
          </p:cNvSpPr>
          <p:nvPr/>
        </p:nvSpPr>
        <p:spPr>
          <a:xfrm>
            <a:off x="456481" y="3419740"/>
            <a:ext cx="8295838" cy="203590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144000" tIns="144000" rIns="144000" bIns="144000" rtlCol="0" anchor="b">
            <a:spAutoFit/>
          </a:bodyPr>
          <a:lstStyle>
            <a:lvl1pPr marL="0" indent="0" algn="l" defTabSz="261245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nl-NL" sz="1200" kern="1200" spc="45" dirty="0">
                <a:solidFill>
                  <a:schemeClr val="bg1"/>
                </a:solidFill>
                <a:latin typeface="Consolas" charset="0"/>
                <a:ea typeface="Consolas" charset="0"/>
                <a:cs typeface="Consolas" charset="0"/>
              </a:defRPr>
            </a:lvl1pPr>
            <a:lvl2pPr marL="714375" indent="-357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2pPr>
            <a:lvl3pPr marL="1071563" indent="-357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633" kern="1200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NL" sz="1633" kern="1200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/>
              <a:t>function </a:t>
            </a:r>
            <a:r>
              <a:rPr lang="en-US" sz="1400" b="1" err="1"/>
              <a:t>doeiets</a:t>
            </a:r>
            <a:r>
              <a:rPr lang="en-US" sz="1400" b="1"/>
              <a:t>(event) {</a:t>
            </a:r>
          </a:p>
          <a:p>
            <a:r>
              <a:rPr lang="en-US" sz="1400" b="1"/>
              <a:t>	var element = event.target;	</a:t>
            </a:r>
          </a:p>
          <a:p>
            <a:r>
              <a:rPr lang="en-US" sz="1400" b="1"/>
              <a:t>}</a:t>
            </a:r>
          </a:p>
          <a:p>
            <a:endParaRPr lang="en-US" sz="1400" b="1"/>
          </a:p>
          <a:p>
            <a:r>
              <a:rPr lang="en-US" sz="1400" b="1"/>
              <a:t>function start() {</a:t>
            </a:r>
          </a:p>
          <a:p>
            <a:r>
              <a:rPr lang="en-US" sz="1400" b="1"/>
              <a:t>  document.getElementById("mydiv").onclick = doeiets;</a:t>
            </a:r>
          </a:p>
          <a:p>
            <a:endParaRPr lang="en-US" sz="1400" b="1"/>
          </a:p>
          <a:p>
            <a:r>
              <a:rPr lang="en-US" sz="1400" b="1"/>
              <a:t>  document.getElementById("mydiv").addEventListener("click", doeiets);	</a:t>
            </a:r>
          </a:p>
          <a:p>
            <a:r>
              <a:rPr lang="en-US" sz="1400" b="1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320506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Oefening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Oefening 9: Gebruik van events met </a:t>
            </a:r>
            <a:r>
              <a:rPr lang="nl-NL" dirty="0" err="1"/>
              <a:t>inline</a:t>
            </a:r>
            <a:r>
              <a:rPr lang="nl-NL" dirty="0"/>
              <a:t> script </a:t>
            </a:r>
            <a:br>
              <a:rPr lang="nl-NL" dirty="0"/>
            </a:br>
            <a:r>
              <a:rPr lang="nl-NL" dirty="0"/>
              <a:t>blz. 125</a:t>
            </a:r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57" y="5228627"/>
            <a:ext cx="1296987" cy="125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14813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err="1"/>
              <a:t>className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/>
              <a:t>Javascript i.c.m. CSS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16362" y="5578560"/>
            <a:ext cx="8295838" cy="1066409"/>
          </a:xfrm>
        </p:spPr>
        <p:txBody>
          <a:bodyPr/>
          <a:lstStyle/>
          <a:p>
            <a:r>
              <a:rPr lang="nl-NL"/>
              <a:t>&lt;div </a:t>
            </a:r>
            <a:r>
              <a:rPr lang="nl-NL" err="1"/>
              <a:t>onmouseover</a:t>
            </a:r>
            <a:r>
              <a:rPr lang="nl-NL"/>
              <a:t>=</a:t>
            </a:r>
            <a:r>
              <a:rPr lang="en-US"/>
              <a:t>"</a:t>
            </a:r>
            <a:r>
              <a:rPr lang="en-US" err="1"/>
              <a:t>this.className</a:t>
            </a:r>
            <a:r>
              <a:rPr lang="en-US"/>
              <a:t>='larger'" </a:t>
            </a:r>
          </a:p>
          <a:p>
            <a:r>
              <a:rPr lang="en-US"/>
              <a:t>     </a:t>
            </a:r>
            <a:r>
              <a:rPr lang="en-US" err="1"/>
              <a:t>onmouseout</a:t>
            </a:r>
            <a:r>
              <a:rPr lang="en-US"/>
              <a:t>="</a:t>
            </a:r>
            <a:r>
              <a:rPr lang="en-US" err="1"/>
              <a:t>this.className</a:t>
            </a:r>
            <a:r>
              <a:rPr lang="en-US"/>
              <a:t>='smaller'"&gt;</a:t>
            </a:r>
          </a:p>
          <a:p>
            <a:r>
              <a:rPr lang="en-US" err="1"/>
              <a:t>Beweeg</a:t>
            </a:r>
            <a:r>
              <a:rPr lang="en-US"/>
              <a:t> </a:t>
            </a:r>
            <a:r>
              <a:rPr lang="en-US" err="1"/>
              <a:t>hierboven</a:t>
            </a:r>
            <a:r>
              <a:rPr lang="en-US"/>
              <a:t> met de </a:t>
            </a:r>
            <a:r>
              <a:rPr lang="en-US" err="1"/>
              <a:t>muis</a:t>
            </a:r>
            <a:endParaRPr lang="en-US"/>
          </a:p>
          <a:p>
            <a:r>
              <a:rPr lang="en-US"/>
              <a:t>&lt;/div&gt;</a:t>
            </a:r>
            <a:endParaRPr lang="nl-NL"/>
          </a:p>
        </p:txBody>
      </p:sp>
      <p:sp>
        <p:nvSpPr>
          <p:cNvPr id="5" name="Tijdelijke aanduiding voor tekst 3"/>
          <p:cNvSpPr txBox="1">
            <a:spLocks/>
          </p:cNvSpPr>
          <p:nvPr/>
        </p:nvSpPr>
        <p:spPr>
          <a:xfrm>
            <a:off x="416362" y="3016251"/>
            <a:ext cx="8295838" cy="22298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144000" tIns="144000" rIns="144000" bIns="144000" rtlCol="0" anchor="b">
            <a:spAutoFit/>
          </a:bodyPr>
          <a:lstStyle>
            <a:lvl1pPr indent="0" defTabSz="261245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nl-NL" sz="1400" b="1" spc="45" dirty="0">
                <a:solidFill>
                  <a:schemeClr val="bg1"/>
                </a:solidFill>
                <a:latin typeface="Consolas" charset="0"/>
                <a:ea typeface="Consolas" charset="0"/>
                <a:cs typeface="Consolas" charset="0"/>
              </a:defRPr>
            </a:lvl1pPr>
            <a:lvl2pPr marL="714375" indent="-357188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lang="en-US" sz="1633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2pPr>
            <a:lvl3pPr marL="1071563" indent="-35718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633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633" dirty="0" smtClean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nl-NL" sz="1633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nl-NL"/>
              <a:t>&lt;</a:t>
            </a:r>
            <a:r>
              <a:rPr lang="nl-NL" err="1"/>
              <a:t>style</a:t>
            </a:r>
            <a:r>
              <a:rPr lang="nl-NL"/>
              <a:t> type=</a:t>
            </a:r>
            <a:r>
              <a:rPr lang="en-US"/>
              <a:t>"text/css"&gt;</a:t>
            </a:r>
          </a:p>
          <a:p>
            <a:r>
              <a:rPr lang="en-US"/>
              <a:t>	</a:t>
            </a:r>
            <a:r>
              <a:rPr lang="en-US" err="1"/>
              <a:t>div.</a:t>
            </a:r>
            <a:r>
              <a:rPr lang="en-US"/>
              <a:t>larger {</a:t>
            </a:r>
          </a:p>
          <a:p>
            <a:r>
              <a:rPr lang="en-US"/>
              <a:t>		font-size: 15pt;</a:t>
            </a:r>
          </a:p>
          <a:p>
            <a:r>
              <a:rPr lang="en-US"/>
              <a:t>		color: red;</a:t>
            </a:r>
          </a:p>
          <a:p>
            <a:r>
              <a:rPr lang="en-US"/>
              <a:t>	}</a:t>
            </a:r>
          </a:p>
          <a:p>
            <a:r>
              <a:rPr lang="en-US"/>
              <a:t>	</a:t>
            </a:r>
            <a:r>
              <a:rPr lang="en-US" err="1"/>
              <a:t>div.</a:t>
            </a:r>
            <a:r>
              <a:rPr lang="en-US"/>
              <a:t>smaller {</a:t>
            </a:r>
          </a:p>
          <a:p>
            <a:r>
              <a:rPr lang="en-US"/>
              <a:t>		font-size: 9pt;</a:t>
            </a:r>
          </a:p>
          <a:p>
            <a:r>
              <a:rPr lang="en-US"/>
              <a:t>		color: Gray;</a:t>
            </a:r>
          </a:p>
          <a:p>
            <a:r>
              <a:rPr lang="en-US"/>
              <a:t>	}</a:t>
            </a:r>
          </a:p>
          <a:p>
            <a:r>
              <a:rPr lang="en-US"/>
              <a:t>&lt;/style&gt;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936281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Images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err="1"/>
              <a:t>attribute</a:t>
            </a:r>
            <a:r>
              <a:rPr lang="nl-NL"/>
              <a:t> </a:t>
            </a:r>
            <a:r>
              <a:rPr lang="nl-NL" err="1"/>
              <a:t>src</a:t>
            </a:r>
            <a:endParaRPr lang="nl-NL"/>
          </a:p>
          <a:p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278095" y="4113072"/>
            <a:ext cx="8434105" cy="1648107"/>
          </a:xfrm>
        </p:spPr>
        <p:txBody>
          <a:bodyPr/>
          <a:lstStyle/>
          <a:p>
            <a:r>
              <a:rPr lang="nl-NL"/>
              <a:t>&lt;</a:t>
            </a:r>
            <a:r>
              <a:rPr lang="nl-NL" err="1"/>
              <a:t>img</a:t>
            </a:r>
            <a:r>
              <a:rPr lang="nl-NL"/>
              <a:t> </a:t>
            </a:r>
            <a:r>
              <a:rPr lang="nl-NL" err="1"/>
              <a:t>src</a:t>
            </a:r>
            <a:r>
              <a:rPr lang="nl-NL"/>
              <a:t>=</a:t>
            </a:r>
            <a:r>
              <a:rPr lang="en-US"/>
              <a:t>"picture1.jpg" width="40" height="40" </a:t>
            </a:r>
            <a:r>
              <a:rPr lang="en-US" err="1"/>
              <a:t>onclick</a:t>
            </a:r>
            <a:r>
              <a:rPr lang="en-US"/>
              <a:t>="</a:t>
            </a:r>
            <a:r>
              <a:rPr lang="en-US" err="1"/>
              <a:t>foto.src</a:t>
            </a:r>
            <a:r>
              <a:rPr lang="en-US"/>
              <a:t>=</a:t>
            </a:r>
            <a:r>
              <a:rPr lang="en-US" err="1"/>
              <a:t>this.src</a:t>
            </a:r>
            <a:r>
              <a:rPr lang="en-US"/>
              <a:t>" /</a:t>
            </a:r>
            <a:r>
              <a:rPr lang="nl-NL"/>
              <a:t>&gt;</a:t>
            </a:r>
          </a:p>
          <a:p>
            <a:endParaRPr lang="nl-NL"/>
          </a:p>
          <a:p>
            <a:r>
              <a:rPr lang="nl-NL"/>
              <a:t>&lt;</a:t>
            </a:r>
            <a:r>
              <a:rPr lang="nl-NL" err="1"/>
              <a:t>img</a:t>
            </a:r>
            <a:r>
              <a:rPr lang="nl-NL"/>
              <a:t> </a:t>
            </a:r>
            <a:r>
              <a:rPr lang="nl-NL" err="1"/>
              <a:t>src</a:t>
            </a:r>
            <a:r>
              <a:rPr lang="nl-NL"/>
              <a:t>=</a:t>
            </a:r>
            <a:r>
              <a:rPr lang="en-US"/>
              <a:t>"picture2.jpg" width="40" height="40" </a:t>
            </a:r>
            <a:r>
              <a:rPr lang="en-US" err="1"/>
              <a:t>onclick</a:t>
            </a:r>
            <a:r>
              <a:rPr lang="en-US"/>
              <a:t>="</a:t>
            </a:r>
            <a:r>
              <a:rPr lang="en-US" err="1"/>
              <a:t>foto.src</a:t>
            </a:r>
            <a:r>
              <a:rPr lang="en-US"/>
              <a:t>=</a:t>
            </a:r>
            <a:r>
              <a:rPr lang="en-US" err="1"/>
              <a:t>this.src</a:t>
            </a:r>
            <a:r>
              <a:rPr lang="en-US"/>
              <a:t>" /</a:t>
            </a:r>
            <a:r>
              <a:rPr lang="nl-NL"/>
              <a:t>&gt;</a:t>
            </a:r>
          </a:p>
          <a:p>
            <a:endParaRPr lang="nl-NL"/>
          </a:p>
          <a:p>
            <a:r>
              <a:rPr lang="nl-NL"/>
              <a:t>&lt;</a:t>
            </a:r>
            <a:r>
              <a:rPr lang="nl-NL" err="1"/>
              <a:t>br</a:t>
            </a:r>
            <a:r>
              <a:rPr lang="nl-NL"/>
              <a:t>&gt;</a:t>
            </a:r>
          </a:p>
          <a:p>
            <a:endParaRPr lang="nl-NL"/>
          </a:p>
          <a:p>
            <a:r>
              <a:rPr lang="nl-NL"/>
              <a:t>&lt;</a:t>
            </a:r>
            <a:r>
              <a:rPr lang="nl-NL" err="1"/>
              <a:t>img</a:t>
            </a:r>
            <a:r>
              <a:rPr lang="nl-NL"/>
              <a:t> name=</a:t>
            </a:r>
            <a:r>
              <a:rPr lang="en-US"/>
              <a:t>"</a:t>
            </a:r>
            <a:r>
              <a:rPr lang="en-US" err="1"/>
              <a:t>foto</a:t>
            </a:r>
            <a:r>
              <a:rPr lang="en-US"/>
              <a:t>" </a:t>
            </a:r>
            <a:r>
              <a:rPr lang="en-US" err="1"/>
              <a:t>src</a:t>
            </a:r>
            <a:r>
              <a:rPr lang="en-US"/>
              <a:t>=""/</a:t>
            </a:r>
            <a:r>
              <a:rPr lang="nl-NL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8654046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Dynamisch koppelen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16362" y="2069712"/>
            <a:ext cx="8295838" cy="4556596"/>
          </a:xfrm>
        </p:spPr>
        <p:txBody>
          <a:bodyPr/>
          <a:lstStyle/>
          <a:p>
            <a:r>
              <a:rPr lang="nl-NL"/>
              <a:t>&lt;script&gt;</a:t>
            </a:r>
          </a:p>
          <a:p>
            <a:endParaRPr lang="nl-NL"/>
          </a:p>
          <a:p>
            <a:r>
              <a:rPr lang="nl-NL" err="1"/>
              <a:t>function</a:t>
            </a:r>
            <a:r>
              <a:rPr lang="nl-NL"/>
              <a:t> </a:t>
            </a:r>
            <a:r>
              <a:rPr lang="nl-NL" err="1"/>
              <a:t>doeiets</a:t>
            </a:r>
            <a:r>
              <a:rPr lang="nl-NL"/>
              <a:t>(e) {</a:t>
            </a:r>
          </a:p>
          <a:p>
            <a:r>
              <a:rPr lang="nl-NL"/>
              <a:t>	</a:t>
            </a:r>
            <a:r>
              <a:rPr lang="nl-NL" err="1"/>
              <a:t>if</a:t>
            </a:r>
            <a:r>
              <a:rPr lang="nl-NL"/>
              <a:t> (e == </a:t>
            </a:r>
            <a:r>
              <a:rPr lang="nl-NL" err="1"/>
              <a:t>Null</a:t>
            </a:r>
            <a:r>
              <a:rPr lang="nl-NL"/>
              <a:t>)	// IE</a:t>
            </a:r>
          </a:p>
          <a:p>
            <a:r>
              <a:rPr lang="nl-NL"/>
              <a:t>		var e = </a:t>
            </a:r>
            <a:r>
              <a:rPr lang="nl-NL" err="1"/>
              <a:t>window.event</a:t>
            </a:r>
            <a:r>
              <a:rPr lang="nl-NL"/>
              <a:t>;</a:t>
            </a:r>
          </a:p>
          <a:p>
            <a:r>
              <a:rPr lang="nl-NL"/>
              <a:t>	</a:t>
            </a:r>
            <a:r>
              <a:rPr lang="nl-NL" err="1"/>
              <a:t>if</a:t>
            </a:r>
            <a:r>
              <a:rPr lang="nl-NL"/>
              <a:t> (</a:t>
            </a:r>
            <a:r>
              <a:rPr lang="nl-NL" err="1"/>
              <a:t>e.target</a:t>
            </a:r>
            <a:r>
              <a:rPr lang="nl-NL"/>
              <a:t>)</a:t>
            </a:r>
          </a:p>
          <a:p>
            <a:r>
              <a:rPr lang="nl-NL"/>
              <a:t>		var element = </a:t>
            </a:r>
            <a:r>
              <a:rPr lang="nl-NL" err="1"/>
              <a:t>e.target</a:t>
            </a:r>
            <a:r>
              <a:rPr lang="nl-NL"/>
              <a:t>;</a:t>
            </a:r>
          </a:p>
          <a:p>
            <a:r>
              <a:rPr lang="nl-NL"/>
              <a:t>	</a:t>
            </a:r>
            <a:r>
              <a:rPr lang="nl-NL" err="1"/>
              <a:t>else</a:t>
            </a:r>
            <a:r>
              <a:rPr lang="nl-NL"/>
              <a:t>	// IE7 of IE8</a:t>
            </a:r>
          </a:p>
          <a:p>
            <a:r>
              <a:rPr lang="nl-NL"/>
              <a:t>		var element = </a:t>
            </a:r>
            <a:r>
              <a:rPr lang="nl-NL" err="1"/>
              <a:t>e.srcElement</a:t>
            </a:r>
            <a:r>
              <a:rPr lang="nl-NL"/>
              <a:t>;</a:t>
            </a:r>
          </a:p>
          <a:p>
            <a:endParaRPr lang="nl-NL"/>
          </a:p>
          <a:p>
            <a:r>
              <a:rPr lang="nl-NL"/>
              <a:t>	</a:t>
            </a:r>
            <a:r>
              <a:rPr lang="nl-NL" err="1"/>
              <a:t>if</a:t>
            </a:r>
            <a:r>
              <a:rPr lang="nl-NL"/>
              <a:t> (</a:t>
            </a:r>
            <a:r>
              <a:rPr lang="nl-NL" err="1"/>
              <a:t>element.style.color</a:t>
            </a:r>
            <a:r>
              <a:rPr lang="nl-NL"/>
              <a:t> == </a:t>
            </a:r>
            <a:r>
              <a:rPr lang="en-US"/>
              <a:t>"red"</a:t>
            </a:r>
            <a:r>
              <a:rPr lang="nl-NL"/>
              <a:t>)</a:t>
            </a:r>
          </a:p>
          <a:p>
            <a:r>
              <a:rPr lang="nl-NL"/>
              <a:t>		</a:t>
            </a:r>
            <a:r>
              <a:rPr lang="nl-NL" err="1"/>
              <a:t>element.style.color</a:t>
            </a:r>
            <a:r>
              <a:rPr lang="nl-NL"/>
              <a:t> = </a:t>
            </a:r>
            <a:r>
              <a:rPr lang="en-US"/>
              <a:t>"black";</a:t>
            </a:r>
          </a:p>
          <a:p>
            <a:r>
              <a:rPr lang="en-US"/>
              <a:t>	else</a:t>
            </a:r>
          </a:p>
          <a:p>
            <a:r>
              <a:rPr lang="nl-NL"/>
              <a:t>		</a:t>
            </a:r>
            <a:r>
              <a:rPr lang="nl-NL" err="1"/>
              <a:t>element.style.color</a:t>
            </a:r>
            <a:r>
              <a:rPr lang="nl-NL"/>
              <a:t> = </a:t>
            </a:r>
            <a:r>
              <a:rPr lang="en-US"/>
              <a:t>"red";</a:t>
            </a:r>
            <a:endParaRPr lang="nl-NL"/>
          </a:p>
          <a:p>
            <a:r>
              <a:rPr lang="nl-NL"/>
              <a:t>}</a:t>
            </a:r>
          </a:p>
          <a:p>
            <a:endParaRPr lang="nl-NL"/>
          </a:p>
          <a:p>
            <a:r>
              <a:rPr lang="nl-NL"/>
              <a:t>var </a:t>
            </a:r>
            <a:r>
              <a:rPr lang="nl-NL" err="1"/>
              <a:t>divs</a:t>
            </a:r>
            <a:r>
              <a:rPr lang="nl-NL"/>
              <a:t> = </a:t>
            </a:r>
            <a:r>
              <a:rPr lang="nl-NL" err="1"/>
              <a:t>document.getElementsByTagName</a:t>
            </a:r>
            <a:r>
              <a:rPr lang="nl-NL"/>
              <a:t>(</a:t>
            </a:r>
            <a:r>
              <a:rPr lang="en-US"/>
              <a:t>"div"</a:t>
            </a:r>
            <a:r>
              <a:rPr lang="nl-NL"/>
              <a:t>);</a:t>
            </a:r>
          </a:p>
          <a:p>
            <a:r>
              <a:rPr lang="nl-NL" err="1"/>
              <a:t>for</a:t>
            </a:r>
            <a:r>
              <a:rPr lang="nl-NL"/>
              <a:t> (var i = 0; i &lt; </a:t>
            </a:r>
            <a:r>
              <a:rPr lang="nl-NL" err="1"/>
              <a:t>divs.length</a:t>
            </a:r>
            <a:r>
              <a:rPr lang="nl-NL"/>
              <a:t>; i++) {</a:t>
            </a:r>
          </a:p>
          <a:p>
            <a:r>
              <a:rPr lang="nl-NL"/>
              <a:t>	</a:t>
            </a:r>
            <a:r>
              <a:rPr lang="nl-NL" err="1"/>
              <a:t>divs</a:t>
            </a:r>
            <a:r>
              <a:rPr lang="nl-NL"/>
              <a:t>[i].</a:t>
            </a:r>
            <a:r>
              <a:rPr lang="nl-NL" err="1"/>
              <a:t>onclick</a:t>
            </a:r>
            <a:r>
              <a:rPr lang="nl-NL"/>
              <a:t> = </a:t>
            </a:r>
            <a:r>
              <a:rPr lang="nl-NL" err="1"/>
              <a:t>doeiets</a:t>
            </a:r>
            <a:r>
              <a:rPr lang="nl-NL"/>
              <a:t>;</a:t>
            </a:r>
          </a:p>
          <a:p>
            <a:r>
              <a:rPr lang="nl-NL"/>
              <a:t>}</a:t>
            </a:r>
          </a:p>
          <a:p>
            <a:endParaRPr lang="nl-NL"/>
          </a:p>
          <a:p>
            <a:r>
              <a:rPr lang="nl-NL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15087982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8515350" cy="1325563"/>
          </a:xfrm>
        </p:spPr>
        <p:txBody>
          <a:bodyPr/>
          <a:lstStyle/>
          <a:p>
            <a:r>
              <a:rPr lang="nl-NL" dirty="0"/>
              <a:t>Oefening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28650" y="2258007"/>
            <a:ext cx="8247336" cy="3465061"/>
          </a:xfrm>
        </p:spPr>
        <p:txBody>
          <a:bodyPr/>
          <a:lstStyle/>
          <a:p>
            <a:r>
              <a:rPr lang="nl-NL" dirty="0"/>
              <a:t>Oefening 10: Events koppelen aan functies</a:t>
            </a:r>
            <a:br>
              <a:rPr lang="nl-NL" dirty="0"/>
            </a:br>
            <a:r>
              <a:rPr lang="nl-NL" dirty="0"/>
              <a:t>blz. 126</a:t>
            </a:r>
          </a:p>
          <a:p>
            <a:r>
              <a:rPr lang="nl-NL" dirty="0"/>
              <a:t>Oefening 11: Combineren van events met dynamische stijlen </a:t>
            </a:r>
            <a:br>
              <a:rPr lang="nl-NL" dirty="0"/>
            </a:br>
            <a:r>
              <a:rPr lang="nl-NL" dirty="0"/>
              <a:t>blz. 127</a:t>
            </a:r>
          </a:p>
          <a:p>
            <a:r>
              <a:rPr lang="nl-NL" dirty="0"/>
              <a:t>Oefening 12: Events koppelen met afbeeldingen </a:t>
            </a:r>
            <a:br>
              <a:rPr lang="nl-NL" dirty="0"/>
            </a:br>
            <a:r>
              <a:rPr lang="nl-NL" dirty="0"/>
              <a:t>blz. 128 - 129</a:t>
            </a:r>
          </a:p>
          <a:p>
            <a:endParaRPr lang="nl-NL" dirty="0"/>
          </a:p>
          <a:p>
            <a:endParaRPr lang="nl-NL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57" y="5228627"/>
            <a:ext cx="1296987" cy="125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27477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String methoden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986218"/>
          </a:xfrm>
        </p:spPr>
        <p:txBody>
          <a:bodyPr numCol="2">
            <a:normAutofit/>
          </a:bodyPr>
          <a:lstStyle/>
          <a:p>
            <a:r>
              <a:rPr lang="nl-NL" err="1"/>
              <a:t>s.toUpperCase</a:t>
            </a:r>
            <a:r>
              <a:rPr lang="nl-NL"/>
              <a:t>()</a:t>
            </a:r>
          </a:p>
          <a:p>
            <a:r>
              <a:rPr lang="nl-NL" err="1"/>
              <a:t>s.toLowerCase</a:t>
            </a:r>
            <a:r>
              <a:rPr lang="nl-NL"/>
              <a:t>()</a:t>
            </a:r>
          </a:p>
          <a:p>
            <a:r>
              <a:rPr lang="nl-NL" err="1"/>
              <a:t>s.substring</a:t>
            </a:r>
            <a:r>
              <a:rPr lang="nl-NL"/>
              <a:t>()</a:t>
            </a:r>
          </a:p>
          <a:p>
            <a:r>
              <a:rPr lang="nl-NL" err="1"/>
              <a:t>s.substr</a:t>
            </a:r>
            <a:r>
              <a:rPr lang="nl-NL"/>
              <a:t>()</a:t>
            </a:r>
          </a:p>
          <a:p>
            <a:r>
              <a:rPr lang="nl-NL" err="1"/>
              <a:t>s.length</a:t>
            </a:r>
            <a:endParaRPr lang="nl-NL"/>
          </a:p>
          <a:p>
            <a:r>
              <a:rPr lang="nl-NL" err="1"/>
              <a:t>s.split</a:t>
            </a:r>
            <a:r>
              <a:rPr lang="nl-NL"/>
              <a:t>()</a:t>
            </a:r>
          </a:p>
          <a:p>
            <a:r>
              <a:rPr lang="nl-NL" err="1"/>
              <a:t>s.indexOf</a:t>
            </a:r>
            <a:r>
              <a:rPr lang="nl-NL"/>
              <a:t>()</a:t>
            </a:r>
          </a:p>
          <a:p>
            <a:endParaRPr lang="nl-NL"/>
          </a:p>
          <a:p>
            <a:r>
              <a:rPr lang="nl-NL" err="1"/>
              <a:t>parseInt</a:t>
            </a:r>
            <a:r>
              <a:rPr lang="nl-NL"/>
              <a:t>(tekst)</a:t>
            </a:r>
          </a:p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539459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Math methoden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844998"/>
          </a:xfrm>
        </p:spPr>
        <p:txBody>
          <a:bodyPr numCol="2">
            <a:normAutofit/>
          </a:bodyPr>
          <a:lstStyle/>
          <a:p>
            <a:r>
              <a:rPr lang="nl-NL" err="1"/>
              <a:t>Math.PI</a:t>
            </a:r>
            <a:endParaRPr lang="nl-NL"/>
          </a:p>
          <a:p>
            <a:r>
              <a:rPr lang="nl-NL" err="1"/>
              <a:t>Math.sqrt</a:t>
            </a:r>
            <a:r>
              <a:rPr lang="nl-NL"/>
              <a:t>()</a:t>
            </a:r>
          </a:p>
          <a:p>
            <a:r>
              <a:rPr lang="nl-NL" err="1"/>
              <a:t>Math.random</a:t>
            </a:r>
            <a:r>
              <a:rPr lang="nl-NL"/>
              <a:t>()</a:t>
            </a:r>
          </a:p>
          <a:p>
            <a:r>
              <a:rPr lang="nl-NL" err="1"/>
              <a:t>Math.round</a:t>
            </a:r>
            <a:r>
              <a:rPr lang="nl-NL"/>
              <a:t>()</a:t>
            </a:r>
          </a:p>
          <a:p>
            <a:r>
              <a:rPr lang="nl-NL" err="1"/>
              <a:t>Math.floor</a:t>
            </a:r>
            <a:r>
              <a:rPr lang="nl-NL"/>
              <a:t>()</a:t>
            </a:r>
          </a:p>
          <a:p>
            <a:r>
              <a:rPr lang="nl-NL" err="1"/>
              <a:t>Math.ceil</a:t>
            </a:r>
            <a:r>
              <a:rPr lang="nl-NL"/>
              <a:t>()</a:t>
            </a:r>
          </a:p>
          <a:p>
            <a:r>
              <a:rPr lang="nl-NL" err="1"/>
              <a:t>Math.min</a:t>
            </a:r>
            <a:r>
              <a:rPr lang="nl-NL"/>
              <a:t>()</a:t>
            </a:r>
          </a:p>
          <a:p>
            <a:r>
              <a:rPr lang="nl-NL" err="1"/>
              <a:t>Math.max</a:t>
            </a:r>
            <a:r>
              <a:rPr lang="nl-NL"/>
              <a:t>()</a:t>
            </a:r>
          </a:p>
          <a:p>
            <a:r>
              <a:rPr lang="nl-NL" err="1"/>
              <a:t>Math.log</a:t>
            </a:r>
            <a:r>
              <a:rPr lang="nl-NL"/>
              <a:t>()</a:t>
            </a:r>
          </a:p>
          <a:p>
            <a:r>
              <a:rPr lang="nl-NL" err="1"/>
              <a:t>Math.exp</a:t>
            </a:r>
            <a:r>
              <a:rPr lang="nl-NL"/>
              <a:t>()</a:t>
            </a:r>
          </a:p>
          <a:p>
            <a:r>
              <a:rPr lang="nl-NL" err="1"/>
              <a:t>Math.sin</a:t>
            </a:r>
            <a:r>
              <a:rPr lang="nl-NL"/>
              <a:t>()</a:t>
            </a:r>
          </a:p>
          <a:p>
            <a:r>
              <a:rPr lang="nl-NL" err="1"/>
              <a:t>Math.cos</a:t>
            </a:r>
            <a:r>
              <a:rPr lang="nl-NL"/>
              <a:t>()</a:t>
            </a:r>
          </a:p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402695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Datums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440265"/>
          </a:xfrm>
        </p:spPr>
        <p:txBody>
          <a:bodyPr numCol="2">
            <a:normAutofit lnSpcReduction="10000"/>
          </a:bodyPr>
          <a:lstStyle/>
          <a:p>
            <a:r>
              <a:rPr lang="nl-NL"/>
              <a:t>new Date()</a:t>
            </a:r>
          </a:p>
          <a:p>
            <a:r>
              <a:rPr lang="nl-NL"/>
              <a:t>new Date(</a:t>
            </a:r>
            <a:r>
              <a:rPr lang="nl-NL" err="1"/>
              <a:t>y,M,d,h,m,s</a:t>
            </a:r>
            <a:r>
              <a:rPr lang="nl-NL"/>
              <a:t>)</a:t>
            </a:r>
          </a:p>
          <a:p>
            <a:endParaRPr lang="nl-NL"/>
          </a:p>
          <a:p>
            <a:r>
              <a:rPr lang="nl-NL" err="1"/>
              <a:t>d.getMilliseconds</a:t>
            </a:r>
            <a:r>
              <a:rPr lang="nl-NL"/>
              <a:t>()</a:t>
            </a:r>
          </a:p>
          <a:p>
            <a:r>
              <a:rPr lang="nl-NL" err="1"/>
              <a:t>d.getSeconds</a:t>
            </a:r>
            <a:r>
              <a:rPr lang="nl-NL"/>
              <a:t>)(</a:t>
            </a:r>
          </a:p>
          <a:p>
            <a:r>
              <a:rPr lang="nl-NL" err="1"/>
              <a:t>d.getMinutes</a:t>
            </a:r>
            <a:r>
              <a:rPr lang="nl-NL"/>
              <a:t>()</a:t>
            </a:r>
          </a:p>
          <a:p>
            <a:r>
              <a:rPr lang="nl-NL" err="1"/>
              <a:t>d.getHours</a:t>
            </a:r>
            <a:r>
              <a:rPr lang="nl-NL"/>
              <a:t>()</a:t>
            </a:r>
          </a:p>
          <a:p>
            <a:r>
              <a:rPr lang="nl-NL" err="1"/>
              <a:t>d.getDate</a:t>
            </a:r>
            <a:r>
              <a:rPr lang="nl-NL"/>
              <a:t>()</a:t>
            </a:r>
          </a:p>
          <a:p>
            <a:r>
              <a:rPr lang="nl-NL" err="1"/>
              <a:t>d.getMonth</a:t>
            </a:r>
            <a:r>
              <a:rPr lang="nl-NL"/>
              <a:t>()</a:t>
            </a:r>
          </a:p>
          <a:p>
            <a:r>
              <a:rPr lang="nl-NL" err="1"/>
              <a:t>d.getFullYear</a:t>
            </a:r>
            <a:r>
              <a:rPr lang="nl-NL"/>
              <a:t>()</a:t>
            </a:r>
          </a:p>
          <a:p>
            <a:r>
              <a:rPr lang="nl-NL" err="1"/>
              <a:t>d.getDay</a:t>
            </a:r>
            <a:r>
              <a:rPr lang="nl-NL"/>
              <a:t>()</a:t>
            </a:r>
          </a:p>
          <a:p>
            <a:r>
              <a:rPr lang="nl-NL" err="1"/>
              <a:t>d.toLocaleString</a:t>
            </a:r>
            <a:r>
              <a:rPr lang="nl-NL"/>
              <a:t>()</a:t>
            </a:r>
          </a:p>
          <a:p>
            <a:r>
              <a:rPr lang="nl-NL" err="1"/>
              <a:t>d.toUTCString</a:t>
            </a:r>
            <a:r>
              <a:rPr lang="nl-NL"/>
              <a:t>()</a:t>
            </a:r>
          </a:p>
          <a:p>
            <a:r>
              <a:rPr lang="nl-NL" err="1"/>
              <a:t>d.toDateString</a:t>
            </a:r>
            <a:r>
              <a:rPr lang="nl-NL"/>
              <a:t>()</a:t>
            </a:r>
          </a:p>
          <a:p>
            <a:r>
              <a:rPr lang="nl-NL" err="1"/>
              <a:t>d.toTimeString</a:t>
            </a:r>
            <a:r>
              <a:rPr lang="nl-NL"/>
              <a:t>()</a:t>
            </a:r>
          </a:p>
          <a:p>
            <a:r>
              <a:rPr lang="nl-NL" err="1"/>
              <a:t>d.getTime</a:t>
            </a:r>
            <a:r>
              <a:rPr lang="nl-NL"/>
              <a:t>()</a:t>
            </a:r>
          </a:p>
          <a:p>
            <a:r>
              <a:rPr lang="nl-NL" err="1"/>
              <a:t>d.setTime</a:t>
            </a:r>
            <a:r>
              <a:rPr lang="nl-NL"/>
              <a:t>()</a:t>
            </a:r>
          </a:p>
          <a:p>
            <a:endParaRPr lang="nl-NL"/>
          </a:p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577447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Oefening	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28650" y="2241549"/>
            <a:ext cx="7886700" cy="3481519"/>
          </a:xfrm>
        </p:spPr>
        <p:txBody>
          <a:bodyPr/>
          <a:lstStyle/>
          <a:p>
            <a:r>
              <a:rPr lang="nl-NL" dirty="0"/>
              <a:t>Oefening 13: Strings, </a:t>
            </a:r>
            <a:r>
              <a:rPr lang="nl-NL" dirty="0" err="1"/>
              <a:t>Numbers</a:t>
            </a:r>
            <a:r>
              <a:rPr lang="nl-NL" dirty="0"/>
              <a:t> en Datums </a:t>
            </a:r>
            <a:br>
              <a:rPr lang="nl-NL" dirty="0"/>
            </a:br>
            <a:r>
              <a:rPr lang="nl-NL" dirty="0"/>
              <a:t>blz. 130 - 131</a:t>
            </a:r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57" y="5228627"/>
            <a:ext cx="1296987" cy="125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01028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Formulieren en validatie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per element: </a:t>
            </a:r>
            <a:r>
              <a:rPr lang="nl-NL" dirty="0" err="1"/>
              <a:t>onblur</a:t>
            </a:r>
            <a:endParaRPr lang="nl-NL" dirty="0"/>
          </a:p>
          <a:p>
            <a:r>
              <a:rPr lang="nl-NL" dirty="0"/>
              <a:t>per form: </a:t>
            </a:r>
            <a:r>
              <a:rPr lang="nl-NL" dirty="0" err="1"/>
              <a:t>onsubmit</a:t>
            </a:r>
            <a:endParaRPr lang="nl-NL" dirty="0"/>
          </a:p>
          <a:p>
            <a:endParaRPr lang="nl-NL" dirty="0"/>
          </a:p>
          <a:p>
            <a:r>
              <a:rPr lang="nl-NL" dirty="0" err="1"/>
              <a:t>element.focus</a:t>
            </a:r>
            <a:r>
              <a:rPr lang="nl-NL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6341786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Oefening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Oefening 14: Validatie van formulieren </a:t>
            </a:r>
            <a:br>
              <a:rPr lang="nl-NL" dirty="0"/>
            </a:br>
            <a:r>
              <a:rPr lang="nl-NL" dirty="0"/>
              <a:t>blz. 132 - 133</a:t>
            </a:r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57" y="5228627"/>
            <a:ext cx="1296987" cy="125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02909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err="1"/>
              <a:t>Regular</a:t>
            </a:r>
            <a:r>
              <a:rPr lang="nl-NL"/>
              <a:t> </a:t>
            </a:r>
            <a:r>
              <a:rPr lang="nl-NL" err="1"/>
              <a:t>Expressions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1147105"/>
          </a:xfrm>
        </p:spPr>
        <p:txBody>
          <a:bodyPr/>
          <a:lstStyle/>
          <a:p>
            <a:r>
              <a:rPr lang="nl-NL" dirty="0"/>
              <a:t>new </a:t>
            </a:r>
            <a:r>
              <a:rPr lang="nl-NL" dirty="0" err="1"/>
              <a:t>RegExp</a:t>
            </a:r>
            <a:r>
              <a:rPr lang="nl-NL" dirty="0"/>
              <a:t>(</a:t>
            </a:r>
            <a:r>
              <a:rPr lang="en-US" dirty="0"/>
              <a:t>"pattern"</a:t>
            </a:r>
            <a:r>
              <a:rPr lang="nl-NL" dirty="0"/>
              <a:t>) of /</a:t>
            </a:r>
            <a:r>
              <a:rPr lang="nl-NL" dirty="0" err="1"/>
              <a:t>pattern</a:t>
            </a:r>
            <a:r>
              <a:rPr lang="nl-NL" dirty="0"/>
              <a:t>/</a:t>
            </a:r>
          </a:p>
          <a:p>
            <a:r>
              <a:rPr lang="nl-NL" dirty="0" err="1"/>
              <a:t>re.test</a:t>
            </a:r>
            <a:r>
              <a:rPr lang="nl-NL" dirty="0"/>
              <a:t>()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16362" y="5116552"/>
            <a:ext cx="8295838" cy="623211"/>
          </a:xfrm>
        </p:spPr>
        <p:txBody>
          <a:bodyPr/>
          <a:lstStyle/>
          <a:p>
            <a:r>
              <a:rPr lang="nl-NL" dirty="0"/>
              <a:t>var re = /</a:t>
            </a:r>
            <a:r>
              <a:rPr lang="en-US" dirty="0"/>
              <a:t>ˆ[0-9]{4} ?[A-</a:t>
            </a:r>
            <a:r>
              <a:rPr lang="en-US" dirty="0" err="1"/>
              <a:t>Za</a:t>
            </a:r>
            <a:r>
              <a:rPr lang="en-US" dirty="0"/>
              <a:t>-z]{2}$</a:t>
            </a:r>
            <a:r>
              <a:rPr lang="nl-NL" dirty="0"/>
              <a:t>/;</a:t>
            </a:r>
          </a:p>
          <a:p>
            <a:r>
              <a:rPr lang="nl-NL" dirty="0" err="1"/>
              <a:t>isPostcode</a:t>
            </a:r>
            <a:r>
              <a:rPr lang="nl-NL" dirty="0"/>
              <a:t> = </a:t>
            </a:r>
            <a:r>
              <a:rPr lang="nl-NL" dirty="0" err="1"/>
              <a:t>re.test</a:t>
            </a:r>
            <a:r>
              <a:rPr lang="nl-NL" dirty="0"/>
              <a:t>(tekst);</a:t>
            </a:r>
          </a:p>
        </p:txBody>
      </p:sp>
    </p:spTree>
    <p:extLst>
      <p:ext uri="{BB962C8B-B14F-4D97-AF65-F5344CB8AC3E}">
        <p14:creationId xmlns:p14="http://schemas.microsoft.com/office/powerpoint/2010/main" val="3523993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hoek 10">
            <a:extLst>
              <a:ext uri="{FF2B5EF4-FFF2-40B4-BE49-F238E27FC236}">
                <a16:creationId xmlns:a16="http://schemas.microsoft.com/office/drawing/2014/main" id="{94B12050-6427-0341-9FEC-CD637DBF8E2F}"/>
              </a:ext>
            </a:extLst>
          </p:cNvPr>
          <p:cNvSpPr/>
          <p:nvPr/>
        </p:nvSpPr>
        <p:spPr>
          <a:xfrm>
            <a:off x="425669" y="1690688"/>
            <a:ext cx="8718331" cy="4051738"/>
          </a:xfrm>
          <a:prstGeom prst="rect">
            <a:avLst/>
          </a:prstGeom>
        </p:spPr>
        <p:txBody>
          <a:bodyPr wrap="square" numCol="2" spcCol="360000">
            <a:noAutofit/>
          </a:bodyPr>
          <a:lstStyle/>
          <a:p>
            <a:r>
              <a:rPr lang="nl-NL" dirty="0"/>
              <a:t>[abc] 	A single </a:t>
            </a:r>
            <a:r>
              <a:rPr lang="nl-NL" dirty="0" err="1"/>
              <a:t>character</a:t>
            </a:r>
            <a:r>
              <a:rPr lang="nl-NL" dirty="0"/>
              <a:t> of: a, b, or c</a:t>
            </a:r>
          </a:p>
          <a:p>
            <a:r>
              <a:rPr lang="nl-NL" dirty="0"/>
              <a:t>[^abc] 	</a:t>
            </a:r>
            <a:r>
              <a:rPr lang="nl-NL" dirty="0" err="1"/>
              <a:t>Any</a:t>
            </a:r>
            <a:r>
              <a:rPr lang="nl-NL" dirty="0"/>
              <a:t> single </a:t>
            </a:r>
            <a:r>
              <a:rPr lang="nl-NL" dirty="0" err="1"/>
              <a:t>character</a:t>
            </a:r>
            <a:r>
              <a:rPr lang="nl-NL" dirty="0"/>
              <a:t> </a:t>
            </a:r>
            <a:r>
              <a:rPr lang="nl-NL" dirty="0" err="1"/>
              <a:t>except</a:t>
            </a:r>
            <a:r>
              <a:rPr lang="nl-NL" dirty="0"/>
              <a:t>: </a:t>
            </a:r>
            <a:br>
              <a:rPr lang="nl-NL" dirty="0"/>
            </a:br>
            <a:r>
              <a:rPr lang="nl-NL" dirty="0"/>
              <a:t>	a, b, or c</a:t>
            </a:r>
          </a:p>
          <a:p>
            <a:r>
              <a:rPr lang="nl-NL" dirty="0"/>
              <a:t>[a-</a:t>
            </a:r>
            <a:r>
              <a:rPr lang="nl-NL" dirty="0" err="1"/>
              <a:t>z</a:t>
            </a:r>
            <a:r>
              <a:rPr lang="nl-NL" dirty="0"/>
              <a:t>] 	</a:t>
            </a:r>
            <a:r>
              <a:rPr lang="nl-NL" dirty="0" err="1"/>
              <a:t>Any</a:t>
            </a:r>
            <a:r>
              <a:rPr lang="nl-NL" dirty="0"/>
              <a:t> single </a:t>
            </a:r>
            <a:r>
              <a:rPr lang="nl-NL" dirty="0" err="1"/>
              <a:t>character</a:t>
            </a:r>
            <a:r>
              <a:rPr lang="nl-NL" dirty="0"/>
              <a:t> in </a:t>
            </a:r>
            <a:r>
              <a:rPr lang="nl-NL" dirty="0" err="1"/>
              <a:t>the</a:t>
            </a:r>
            <a:br>
              <a:rPr lang="nl-NL" dirty="0"/>
            </a:br>
            <a:r>
              <a:rPr lang="nl-NL" dirty="0"/>
              <a:t>	range a-</a:t>
            </a:r>
            <a:r>
              <a:rPr lang="nl-NL" dirty="0" err="1"/>
              <a:t>z</a:t>
            </a:r>
            <a:endParaRPr lang="nl-NL" dirty="0"/>
          </a:p>
          <a:p>
            <a:r>
              <a:rPr lang="nl-NL" dirty="0"/>
              <a:t>[a-</a:t>
            </a:r>
            <a:r>
              <a:rPr lang="nl-NL" dirty="0" err="1"/>
              <a:t>zA</a:t>
            </a:r>
            <a:r>
              <a:rPr lang="nl-NL" dirty="0"/>
              <a:t>-</a:t>
            </a:r>
            <a:r>
              <a:rPr lang="nl-NL" dirty="0" err="1"/>
              <a:t>Z</a:t>
            </a:r>
            <a:r>
              <a:rPr lang="nl-NL" dirty="0"/>
              <a:t>] 	</a:t>
            </a:r>
            <a:r>
              <a:rPr lang="nl-NL" dirty="0" err="1"/>
              <a:t>Any</a:t>
            </a:r>
            <a:r>
              <a:rPr lang="nl-NL" dirty="0"/>
              <a:t> single </a:t>
            </a:r>
            <a:r>
              <a:rPr lang="nl-NL" dirty="0" err="1"/>
              <a:t>character</a:t>
            </a:r>
            <a:r>
              <a:rPr lang="nl-NL" dirty="0"/>
              <a:t> in </a:t>
            </a:r>
            <a:r>
              <a:rPr lang="nl-NL" dirty="0" err="1"/>
              <a:t>the</a:t>
            </a:r>
            <a:endParaRPr lang="nl-NL" dirty="0"/>
          </a:p>
          <a:p>
            <a:r>
              <a:rPr lang="nl-NL" dirty="0"/>
              <a:t>	range a-</a:t>
            </a:r>
            <a:r>
              <a:rPr lang="nl-NL" dirty="0" err="1"/>
              <a:t>z</a:t>
            </a:r>
            <a:r>
              <a:rPr lang="nl-NL" dirty="0"/>
              <a:t> or A-Z</a:t>
            </a:r>
          </a:p>
          <a:p>
            <a:r>
              <a:rPr lang="nl-NL" dirty="0"/>
              <a:t>^ 	Start of line</a:t>
            </a:r>
          </a:p>
          <a:p>
            <a:r>
              <a:rPr lang="nl-NL" dirty="0"/>
              <a:t>$ 	End of line</a:t>
            </a:r>
          </a:p>
          <a:p>
            <a:r>
              <a:rPr lang="nl-NL" dirty="0"/>
              <a:t>\A 	Start of string</a:t>
            </a:r>
          </a:p>
          <a:p>
            <a:r>
              <a:rPr lang="nl-NL" dirty="0"/>
              <a:t>\</a:t>
            </a:r>
            <a:r>
              <a:rPr lang="nl-NL" dirty="0" err="1"/>
              <a:t>z</a:t>
            </a:r>
            <a:r>
              <a:rPr lang="nl-NL" dirty="0"/>
              <a:t> 	End of string</a:t>
            </a:r>
          </a:p>
          <a:p>
            <a:r>
              <a:rPr lang="nl-NL" dirty="0"/>
              <a:t>. 	</a:t>
            </a:r>
            <a:r>
              <a:rPr lang="nl-NL" dirty="0" err="1"/>
              <a:t>Any</a:t>
            </a:r>
            <a:r>
              <a:rPr lang="nl-NL" dirty="0"/>
              <a:t> single </a:t>
            </a:r>
            <a:r>
              <a:rPr lang="nl-NL" dirty="0" err="1"/>
              <a:t>character</a:t>
            </a:r>
            <a:endParaRPr lang="nl-NL" dirty="0"/>
          </a:p>
          <a:p>
            <a:r>
              <a:rPr lang="nl-NL" dirty="0"/>
              <a:t>\s 	</a:t>
            </a:r>
            <a:r>
              <a:rPr lang="nl-NL" dirty="0" err="1"/>
              <a:t>Any</a:t>
            </a:r>
            <a:r>
              <a:rPr lang="nl-NL" dirty="0"/>
              <a:t> </a:t>
            </a:r>
            <a:r>
              <a:rPr lang="nl-NL" dirty="0" err="1"/>
              <a:t>whitespace</a:t>
            </a:r>
            <a:r>
              <a:rPr lang="nl-NL" dirty="0"/>
              <a:t> </a:t>
            </a:r>
            <a:r>
              <a:rPr lang="nl-NL" dirty="0" err="1"/>
              <a:t>character</a:t>
            </a:r>
            <a:endParaRPr lang="nl-NL" dirty="0"/>
          </a:p>
          <a:p>
            <a:r>
              <a:rPr lang="nl-NL" dirty="0"/>
              <a:t>\S 	</a:t>
            </a:r>
            <a:r>
              <a:rPr lang="nl-NL" dirty="0" err="1"/>
              <a:t>Any</a:t>
            </a:r>
            <a:r>
              <a:rPr lang="nl-NL" dirty="0"/>
              <a:t> non-</a:t>
            </a:r>
            <a:r>
              <a:rPr lang="nl-NL" dirty="0" err="1"/>
              <a:t>whitespace</a:t>
            </a:r>
            <a:r>
              <a:rPr lang="nl-NL" dirty="0"/>
              <a:t> </a:t>
            </a:r>
            <a:r>
              <a:rPr lang="nl-NL" dirty="0" err="1"/>
              <a:t>character</a:t>
            </a:r>
            <a:endParaRPr lang="nl-NL" dirty="0"/>
          </a:p>
          <a:p>
            <a:r>
              <a:rPr lang="nl-NL" dirty="0"/>
              <a:t>\d 	</a:t>
            </a:r>
            <a:r>
              <a:rPr lang="nl-NL" dirty="0" err="1"/>
              <a:t>Any</a:t>
            </a:r>
            <a:r>
              <a:rPr lang="nl-NL" dirty="0"/>
              <a:t> digit</a:t>
            </a:r>
          </a:p>
          <a:p>
            <a:r>
              <a:rPr lang="nl-NL" dirty="0"/>
              <a:t>\D 	</a:t>
            </a:r>
            <a:r>
              <a:rPr lang="nl-NL" dirty="0" err="1"/>
              <a:t>Any</a:t>
            </a:r>
            <a:r>
              <a:rPr lang="nl-NL" dirty="0"/>
              <a:t> non-digit</a:t>
            </a:r>
          </a:p>
          <a:p>
            <a:r>
              <a:rPr lang="nl-NL" dirty="0"/>
              <a:t>\w 	</a:t>
            </a:r>
            <a:r>
              <a:rPr lang="nl-NL" dirty="0" err="1"/>
              <a:t>Any</a:t>
            </a:r>
            <a:r>
              <a:rPr lang="nl-NL" dirty="0"/>
              <a:t> word </a:t>
            </a:r>
            <a:r>
              <a:rPr lang="nl-NL" dirty="0" err="1"/>
              <a:t>character</a:t>
            </a:r>
            <a:r>
              <a:rPr lang="nl-NL" dirty="0"/>
              <a:t> (letter,</a:t>
            </a:r>
          </a:p>
          <a:p>
            <a:r>
              <a:rPr lang="nl-NL" dirty="0"/>
              <a:t>	</a:t>
            </a:r>
            <a:r>
              <a:rPr lang="nl-NL" dirty="0" err="1"/>
              <a:t>number</a:t>
            </a:r>
            <a:r>
              <a:rPr lang="nl-NL" dirty="0"/>
              <a:t>, </a:t>
            </a:r>
            <a:r>
              <a:rPr lang="nl-NL" dirty="0" err="1"/>
              <a:t>underscore</a:t>
            </a:r>
            <a:r>
              <a:rPr lang="nl-NL" dirty="0"/>
              <a:t>)</a:t>
            </a:r>
          </a:p>
          <a:p>
            <a:r>
              <a:rPr lang="nl-NL" dirty="0"/>
              <a:t>\W 	</a:t>
            </a:r>
            <a:r>
              <a:rPr lang="nl-NL" dirty="0" err="1"/>
              <a:t>Any</a:t>
            </a:r>
            <a:r>
              <a:rPr lang="nl-NL" dirty="0"/>
              <a:t> non-word </a:t>
            </a:r>
            <a:r>
              <a:rPr lang="nl-NL" dirty="0" err="1"/>
              <a:t>character</a:t>
            </a:r>
            <a:endParaRPr lang="nl-NL" dirty="0"/>
          </a:p>
          <a:p>
            <a:r>
              <a:rPr lang="nl-NL" dirty="0"/>
              <a:t>\b 	</a:t>
            </a:r>
            <a:r>
              <a:rPr lang="nl-NL" dirty="0" err="1"/>
              <a:t>Any</a:t>
            </a:r>
            <a:r>
              <a:rPr lang="nl-NL" dirty="0"/>
              <a:t> word </a:t>
            </a:r>
            <a:r>
              <a:rPr lang="nl-NL" dirty="0" err="1"/>
              <a:t>boundary</a:t>
            </a:r>
            <a:endParaRPr lang="nl-NL" dirty="0"/>
          </a:p>
          <a:p>
            <a:r>
              <a:rPr lang="nl-NL" dirty="0"/>
              <a:t>(...) 	</a:t>
            </a:r>
            <a:r>
              <a:rPr lang="nl-NL" dirty="0" err="1"/>
              <a:t>Capture</a:t>
            </a:r>
            <a:r>
              <a:rPr lang="nl-NL" dirty="0"/>
              <a:t> </a:t>
            </a:r>
            <a:r>
              <a:rPr lang="nl-NL" dirty="0" err="1"/>
              <a:t>everything</a:t>
            </a:r>
            <a:r>
              <a:rPr lang="nl-NL" dirty="0"/>
              <a:t> </a:t>
            </a:r>
            <a:r>
              <a:rPr lang="nl-NL" dirty="0" err="1"/>
              <a:t>enclosed</a:t>
            </a:r>
            <a:endParaRPr lang="nl-NL" dirty="0"/>
          </a:p>
          <a:p>
            <a:r>
              <a:rPr lang="nl-NL" dirty="0"/>
              <a:t>(</a:t>
            </a:r>
            <a:r>
              <a:rPr lang="nl-NL" dirty="0" err="1"/>
              <a:t>a|b</a:t>
            </a:r>
            <a:r>
              <a:rPr lang="nl-NL" dirty="0"/>
              <a:t>) 	a or b</a:t>
            </a:r>
          </a:p>
          <a:p>
            <a:r>
              <a:rPr lang="nl-NL" dirty="0"/>
              <a:t>a? 	Zero or </a:t>
            </a:r>
            <a:r>
              <a:rPr lang="nl-NL" dirty="0" err="1"/>
              <a:t>one</a:t>
            </a:r>
            <a:r>
              <a:rPr lang="nl-NL" dirty="0"/>
              <a:t> of a</a:t>
            </a:r>
          </a:p>
          <a:p>
            <a:r>
              <a:rPr lang="nl-NL" dirty="0"/>
              <a:t>a* 	Zero or more of a</a:t>
            </a:r>
          </a:p>
          <a:p>
            <a:r>
              <a:rPr lang="nl-NL" dirty="0"/>
              <a:t>a+ 	</a:t>
            </a:r>
            <a:r>
              <a:rPr lang="nl-NL" dirty="0" err="1"/>
              <a:t>One</a:t>
            </a:r>
            <a:r>
              <a:rPr lang="nl-NL" dirty="0"/>
              <a:t> or more of a</a:t>
            </a:r>
          </a:p>
          <a:p>
            <a:r>
              <a:rPr lang="nl-NL" dirty="0"/>
              <a:t>a{3} 	</a:t>
            </a:r>
            <a:r>
              <a:rPr lang="nl-NL" dirty="0" err="1"/>
              <a:t>Exactly</a:t>
            </a:r>
            <a:r>
              <a:rPr lang="nl-NL" dirty="0"/>
              <a:t> 3 of a</a:t>
            </a:r>
          </a:p>
          <a:p>
            <a:r>
              <a:rPr lang="nl-NL" dirty="0"/>
              <a:t>a{3,} 	3 or more of a</a:t>
            </a:r>
          </a:p>
          <a:p>
            <a:r>
              <a:rPr lang="nl-NL" dirty="0"/>
              <a:t>a{3,6} 	</a:t>
            </a:r>
            <a:r>
              <a:rPr lang="nl-NL" dirty="0" err="1"/>
              <a:t>Between</a:t>
            </a:r>
            <a:r>
              <a:rPr lang="nl-NL" dirty="0"/>
              <a:t> 3 </a:t>
            </a:r>
            <a:r>
              <a:rPr lang="nl-NL" dirty="0" err="1"/>
              <a:t>and</a:t>
            </a:r>
            <a:r>
              <a:rPr lang="nl-NL" dirty="0"/>
              <a:t> 6 of a</a:t>
            </a: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0004399D-2209-D94D-8AAB-30DCFBF61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Regular</a:t>
            </a:r>
            <a:r>
              <a:rPr lang="nl-NL" dirty="0"/>
              <a:t> </a:t>
            </a:r>
            <a:r>
              <a:rPr lang="nl-NL" dirty="0" err="1"/>
              <a:t>Expression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344114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8515350" cy="1325563"/>
          </a:xfrm>
        </p:spPr>
        <p:txBody>
          <a:bodyPr>
            <a:normAutofit/>
          </a:bodyPr>
          <a:lstStyle/>
          <a:p>
            <a:r>
              <a:rPr lang="nl-NL" dirty="0"/>
              <a:t>Oefening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28650" y="2241549"/>
            <a:ext cx="7886700" cy="3481519"/>
          </a:xfrm>
        </p:spPr>
        <p:txBody>
          <a:bodyPr/>
          <a:lstStyle/>
          <a:p>
            <a:r>
              <a:rPr lang="nl-NL" dirty="0"/>
              <a:t>Oefening 15: Validatie met </a:t>
            </a:r>
            <a:r>
              <a:rPr lang="nl-NL" dirty="0" err="1"/>
              <a:t>regular</a:t>
            </a:r>
            <a:r>
              <a:rPr lang="nl-NL" dirty="0"/>
              <a:t> </a:t>
            </a:r>
            <a:r>
              <a:rPr lang="nl-NL" dirty="0" err="1"/>
              <a:t>expressions</a:t>
            </a:r>
            <a:r>
              <a:rPr lang="nl-NL" dirty="0"/>
              <a:t> </a:t>
            </a:r>
            <a:br>
              <a:rPr lang="nl-NL" dirty="0"/>
            </a:br>
            <a:r>
              <a:rPr lang="nl-NL" dirty="0"/>
              <a:t>blz. 134 - 135</a:t>
            </a:r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57" y="5228627"/>
            <a:ext cx="1296987" cy="125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64863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Timers en javascript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nl-NL" err="1"/>
              <a:t>setTimeout</a:t>
            </a:r>
            <a:endParaRPr lang="nl-NL"/>
          </a:p>
          <a:p>
            <a:r>
              <a:rPr lang="nl-NL" err="1"/>
              <a:t>clearTimeout</a:t>
            </a:r>
            <a:endParaRPr lang="nl-NL"/>
          </a:p>
          <a:p>
            <a:endParaRPr lang="nl-NL"/>
          </a:p>
          <a:p>
            <a:r>
              <a:rPr lang="nl-NL" err="1"/>
              <a:t>setInterval</a:t>
            </a:r>
            <a:r>
              <a:rPr lang="nl-NL"/>
              <a:t>()</a:t>
            </a:r>
          </a:p>
          <a:p>
            <a:r>
              <a:rPr lang="nl-NL" err="1"/>
              <a:t>clearInterval</a:t>
            </a:r>
            <a:r>
              <a:rPr lang="nl-NL"/>
              <a:t>()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16362" y="5163342"/>
            <a:ext cx="8295838" cy="623211"/>
          </a:xfrm>
        </p:spPr>
        <p:txBody>
          <a:bodyPr/>
          <a:lstStyle/>
          <a:p>
            <a:r>
              <a:rPr lang="nl-NL" err="1"/>
              <a:t>id</a:t>
            </a:r>
            <a:r>
              <a:rPr lang="nl-NL"/>
              <a:t> = </a:t>
            </a:r>
            <a:r>
              <a:rPr lang="nl-NL" err="1"/>
              <a:t>window.setTimeout</a:t>
            </a:r>
            <a:r>
              <a:rPr lang="nl-NL"/>
              <a:t>(</a:t>
            </a:r>
            <a:r>
              <a:rPr lang="en-US"/>
              <a:t>"alert('BOOM!')", 60000</a:t>
            </a:r>
            <a:r>
              <a:rPr lang="nl-NL"/>
              <a:t>);</a:t>
            </a:r>
          </a:p>
          <a:p>
            <a:r>
              <a:rPr lang="nl-NL" err="1"/>
              <a:t>clearTimeout</a:t>
            </a:r>
            <a:r>
              <a:rPr lang="nl-NL"/>
              <a:t>(</a:t>
            </a:r>
            <a:r>
              <a:rPr lang="nl-NL" err="1"/>
              <a:t>id</a:t>
            </a:r>
            <a:r>
              <a:rPr lang="nl-NL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9249457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Oefening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Oefening 16: Gebruik van timers </a:t>
            </a:r>
            <a:br>
              <a:rPr lang="nl-NL" dirty="0"/>
            </a:br>
            <a:r>
              <a:rPr lang="nl-NL" dirty="0"/>
              <a:t>blz. 136</a:t>
            </a:r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57" y="5228627"/>
            <a:ext cx="1296987" cy="125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36490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Fouten afvangen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nl-NL" err="1"/>
              <a:t>window.onerror</a:t>
            </a:r>
            <a:endParaRPr lang="nl-NL"/>
          </a:p>
          <a:p>
            <a:endParaRPr lang="nl-NL"/>
          </a:p>
          <a:p>
            <a:r>
              <a:rPr lang="nl-NL" err="1"/>
              <a:t>try</a:t>
            </a:r>
            <a:r>
              <a:rPr lang="nl-NL"/>
              <a:t> </a:t>
            </a:r>
            <a:r>
              <a:rPr lang="is-IS"/>
              <a:t>… catch</a:t>
            </a:r>
          </a:p>
          <a:p>
            <a:endParaRPr lang="is-IS"/>
          </a:p>
          <a:p>
            <a:r>
              <a:rPr lang="is-IS"/>
              <a:t>throw</a:t>
            </a:r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29977" y="3650054"/>
            <a:ext cx="8295838" cy="2229805"/>
          </a:xfrm>
        </p:spPr>
        <p:txBody>
          <a:bodyPr/>
          <a:lstStyle/>
          <a:p>
            <a:r>
              <a:rPr lang="nl-NL" dirty="0" err="1"/>
              <a:t>try</a:t>
            </a:r>
            <a:r>
              <a:rPr lang="nl-NL" dirty="0"/>
              <a:t> {</a:t>
            </a:r>
          </a:p>
          <a:p>
            <a:endParaRPr lang="nl-NL" dirty="0"/>
          </a:p>
          <a:p>
            <a:r>
              <a:rPr lang="nl-NL" dirty="0"/>
              <a:t>	</a:t>
            </a:r>
            <a:r>
              <a:rPr lang="nl-NL" dirty="0" err="1"/>
              <a:t>document.bestaatNiet</a:t>
            </a:r>
            <a:r>
              <a:rPr lang="nl-NL" dirty="0"/>
              <a:t>();</a:t>
            </a:r>
          </a:p>
          <a:p>
            <a:endParaRPr lang="nl-NL" dirty="0"/>
          </a:p>
          <a:p>
            <a:r>
              <a:rPr lang="nl-NL" dirty="0"/>
              <a:t>}</a:t>
            </a:r>
          </a:p>
          <a:p>
            <a:r>
              <a:rPr lang="nl-NL" dirty="0"/>
              <a:t>catch (</a:t>
            </a:r>
            <a:r>
              <a:rPr lang="nl-NL" dirty="0" err="1"/>
              <a:t>err</a:t>
            </a:r>
            <a:r>
              <a:rPr lang="nl-NL" dirty="0"/>
              <a:t>) {</a:t>
            </a:r>
          </a:p>
          <a:p>
            <a:endParaRPr lang="nl-NL" dirty="0"/>
          </a:p>
          <a:p>
            <a:r>
              <a:rPr lang="nl-NL" dirty="0"/>
              <a:t>	alert(</a:t>
            </a:r>
            <a:r>
              <a:rPr lang="nl-NL" dirty="0" err="1"/>
              <a:t>err</a:t>
            </a:r>
            <a:r>
              <a:rPr lang="nl-NL" dirty="0"/>
              <a:t>);</a:t>
            </a:r>
          </a:p>
          <a:p>
            <a:endParaRPr lang="nl-NL" dirty="0"/>
          </a:p>
          <a:p>
            <a:r>
              <a:rPr lang="nl-NL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69112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Oefening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Oefening 17: Fouten afvangen </a:t>
            </a:r>
            <a:br>
              <a:rPr lang="nl-NL" dirty="0"/>
            </a:br>
            <a:r>
              <a:rPr lang="nl-NL" dirty="0"/>
              <a:t>blz. 137</a:t>
            </a:r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57" y="5228627"/>
            <a:ext cx="1296987" cy="125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75483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err="1"/>
              <a:t>jQuery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3196622"/>
          </a:xfrm>
        </p:spPr>
        <p:txBody>
          <a:bodyPr>
            <a:normAutofit/>
          </a:bodyPr>
          <a:lstStyle/>
          <a:p>
            <a:r>
              <a:rPr lang="nl-NL" dirty="0"/>
              <a:t>$() </a:t>
            </a:r>
            <a:r>
              <a:rPr lang="nl-NL" dirty="0" err="1"/>
              <a:t>function</a:t>
            </a:r>
            <a:endParaRPr lang="nl-NL" dirty="0"/>
          </a:p>
          <a:p>
            <a:r>
              <a:rPr lang="nl-NL" dirty="0"/>
              <a:t>$()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selector</a:t>
            </a:r>
            <a:endParaRPr lang="nl-NL" dirty="0"/>
          </a:p>
          <a:p>
            <a:r>
              <a:rPr lang="nl-NL" dirty="0"/>
              <a:t>$() </a:t>
            </a:r>
            <a:r>
              <a:rPr lang="nl-NL" dirty="0" err="1"/>
              <a:t>functions</a:t>
            </a:r>
            <a:endParaRPr lang="nl-NL" dirty="0"/>
          </a:p>
          <a:p>
            <a:endParaRPr lang="nl-NL" dirty="0"/>
          </a:p>
          <a:p>
            <a:r>
              <a:rPr lang="nl-NL" dirty="0"/>
              <a:t>$(document).ready( </a:t>
            </a:r>
            <a:r>
              <a:rPr lang="nl-NL" dirty="0" err="1"/>
              <a:t>function</a:t>
            </a:r>
            <a:r>
              <a:rPr lang="nl-NL" dirty="0"/>
              <a:t>() { </a:t>
            </a:r>
            <a:r>
              <a:rPr lang="is-IS" dirty="0"/>
              <a:t>… </a:t>
            </a:r>
            <a:r>
              <a:rPr lang="nl-NL" dirty="0"/>
              <a:t>})</a:t>
            </a:r>
          </a:p>
          <a:p>
            <a:r>
              <a:rPr lang="nl-NL" dirty="0"/>
              <a:t>$("h2").click(</a:t>
            </a:r>
            <a:r>
              <a:rPr lang="nl-NL" dirty="0" err="1"/>
              <a:t>function</a:t>
            </a:r>
            <a:r>
              <a:rPr lang="nl-NL" dirty="0"/>
              <a:t>(){ $(</a:t>
            </a:r>
            <a:r>
              <a:rPr lang="nl-NL" dirty="0" err="1"/>
              <a:t>this</a:t>
            </a:r>
            <a:r>
              <a:rPr lang="nl-NL" dirty="0"/>
              <a:t>).</a:t>
            </a:r>
            <a:r>
              <a:rPr lang="nl-NL" dirty="0" err="1"/>
              <a:t>css</a:t>
            </a:r>
            <a:r>
              <a:rPr lang="nl-NL" dirty="0"/>
              <a:t>("font-</a:t>
            </a:r>
            <a:r>
              <a:rPr lang="nl-NL" dirty="0" err="1"/>
              <a:t>style</a:t>
            </a:r>
            <a:r>
              <a:rPr lang="nl-NL" dirty="0"/>
              <a:t>","italic"); })</a:t>
            </a:r>
            <a:br>
              <a:rPr lang="nl-NL" dirty="0"/>
            </a:b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29977" y="5090448"/>
            <a:ext cx="8295838" cy="789411"/>
          </a:xfrm>
          <a:solidFill>
            <a:schemeClr val="accent1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144000" tIns="144000" rIns="144000" bIns="144000" rtlCol="0" anchor="b">
            <a:spAutoFit/>
          </a:bodyPr>
          <a:lstStyle/>
          <a:p>
            <a:r>
              <a:rPr lang="nl-NL" dirty="0"/>
              <a:t>$(document).ready( </a:t>
            </a:r>
            <a:r>
              <a:rPr lang="nl-NL" dirty="0" err="1"/>
              <a:t>function</a:t>
            </a:r>
            <a:r>
              <a:rPr lang="nl-NL" dirty="0"/>
              <a:t>() {</a:t>
            </a:r>
            <a:br>
              <a:rPr lang="nl-NL" dirty="0"/>
            </a:br>
            <a:r>
              <a:rPr lang="nl-NL" dirty="0"/>
              <a:t>  $("h2").click(</a:t>
            </a:r>
            <a:r>
              <a:rPr lang="nl-NL" dirty="0" err="1"/>
              <a:t>function</a:t>
            </a:r>
            <a:r>
              <a:rPr lang="nl-NL" dirty="0"/>
              <a:t>(){ $(</a:t>
            </a:r>
            <a:r>
              <a:rPr lang="nl-NL" dirty="0" err="1"/>
              <a:t>this</a:t>
            </a:r>
            <a:r>
              <a:rPr lang="nl-NL" dirty="0"/>
              <a:t>).</a:t>
            </a:r>
            <a:r>
              <a:rPr lang="nl-NL" dirty="0" err="1"/>
              <a:t>css</a:t>
            </a:r>
            <a:r>
              <a:rPr lang="nl-NL" dirty="0"/>
              <a:t>("font-</a:t>
            </a:r>
            <a:r>
              <a:rPr lang="nl-NL" dirty="0" err="1"/>
              <a:t>style</a:t>
            </a:r>
            <a:r>
              <a:rPr lang="nl-NL" dirty="0"/>
              <a:t>","italic"); });</a:t>
            </a:r>
            <a:br>
              <a:rPr lang="nl-NL" dirty="0"/>
            </a:br>
            <a:r>
              <a:rPr lang="nl-NL" dirty="0"/>
              <a:t>)}</a:t>
            </a:r>
          </a:p>
        </p:txBody>
      </p:sp>
    </p:spTree>
    <p:extLst>
      <p:ext uri="{BB962C8B-B14F-4D97-AF65-F5344CB8AC3E}">
        <p14:creationId xmlns:p14="http://schemas.microsoft.com/office/powerpoint/2010/main" val="13393459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Oefening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Oefening 18: Introductie </a:t>
            </a:r>
            <a:r>
              <a:rPr lang="nl-NL" dirty="0" err="1"/>
              <a:t>jQuery</a:t>
            </a:r>
            <a:r>
              <a:rPr lang="nl-NL" dirty="0"/>
              <a:t> </a:t>
            </a:r>
            <a:br>
              <a:rPr lang="nl-NL" dirty="0"/>
            </a:br>
            <a:r>
              <a:rPr lang="nl-NL" dirty="0"/>
              <a:t>blz.138</a:t>
            </a:r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57" y="5228627"/>
            <a:ext cx="1296987" cy="125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41297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Cookies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err="1"/>
              <a:t>document.cookie</a:t>
            </a:r>
            <a:endParaRPr lang="nl-NL"/>
          </a:p>
          <a:p>
            <a:r>
              <a:rPr lang="nl-NL" err="1"/>
              <a:t>expires</a:t>
            </a:r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29977" y="4813450"/>
            <a:ext cx="8295838" cy="1066409"/>
          </a:xfrm>
        </p:spPr>
        <p:txBody>
          <a:bodyPr/>
          <a:lstStyle/>
          <a:p>
            <a:r>
              <a:rPr lang="nl-NL" dirty="0"/>
              <a:t>var </a:t>
            </a:r>
            <a:r>
              <a:rPr lang="nl-NL" dirty="0" err="1"/>
              <a:t>expires</a:t>
            </a:r>
            <a:r>
              <a:rPr lang="nl-NL" dirty="0"/>
              <a:t> = new Date();</a:t>
            </a:r>
          </a:p>
          <a:p>
            <a:r>
              <a:rPr lang="nl-NL" dirty="0"/>
              <a:t>var maand = 30 * 24 * 60 * 60 * 1000;</a:t>
            </a:r>
            <a:br>
              <a:rPr lang="nl-NL" dirty="0"/>
            </a:br>
            <a:r>
              <a:rPr lang="nl-NL" dirty="0" err="1"/>
              <a:t>expires.setTime</a:t>
            </a:r>
            <a:r>
              <a:rPr lang="nl-NL" dirty="0"/>
              <a:t>(</a:t>
            </a:r>
            <a:r>
              <a:rPr lang="nl-NL" dirty="0" err="1"/>
              <a:t>expires.getTime</a:t>
            </a:r>
            <a:r>
              <a:rPr lang="nl-NL" dirty="0"/>
              <a:t>() + maand);</a:t>
            </a:r>
            <a:br>
              <a:rPr lang="nl-NL" dirty="0"/>
            </a:br>
            <a:r>
              <a:rPr lang="nl-NL" dirty="0" err="1"/>
              <a:t>document.cookie</a:t>
            </a:r>
            <a:r>
              <a:rPr lang="nl-NL" dirty="0"/>
              <a:t> = </a:t>
            </a:r>
            <a:r>
              <a:rPr lang="en-US" dirty="0"/>
              <a:t>"</a:t>
            </a:r>
            <a:r>
              <a:rPr lang="en-US" dirty="0" err="1"/>
              <a:t>zoekterm</a:t>
            </a:r>
            <a:r>
              <a:rPr lang="en-US" dirty="0"/>
              <a:t>=</a:t>
            </a:r>
            <a:r>
              <a:rPr lang="en-US" dirty="0" err="1"/>
              <a:t>Einstein;expires</a:t>
            </a:r>
            <a:r>
              <a:rPr lang="en-US" dirty="0"/>
              <a:t>=" + expires;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03960328"/>
      </p:ext>
    </p:extLst>
  </p:cSld>
  <p:clrMapOvr>
    <a:masterClrMapping/>
  </p:clrMapOvr>
</p:sld>
</file>

<file path=ppt/theme/theme1.xml><?xml version="1.0" encoding="utf-8"?>
<a:theme xmlns:a="http://schemas.openxmlformats.org/drawingml/2006/main" name="2_Aangepast ontwerp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.SDV.41668.a4_v2.potx" id="{675E185B-93B3-4903-9ABB-25519CAA18E7}" vid="{37FE5164-E681-4E4C-A006-F3F5C83F9C5E}"/>
    </a:ext>
  </a:extLst>
</a:theme>
</file>

<file path=ppt/theme/theme2.xml><?xml version="1.0" encoding="utf-8"?>
<a:theme xmlns:a="http://schemas.openxmlformats.org/drawingml/2006/main" name="1_Aangepast ontwerp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.SDV.41668.a4_v2.potx" id="{675E185B-93B3-4903-9ABB-25519CAA18E7}" vid="{31B910C4-2474-42DF-8046-798D799F2FED}"/>
    </a:ext>
  </a:extLst>
</a:theme>
</file>

<file path=ppt/theme/theme3.xml><?xml version="1.0" encoding="utf-8"?>
<a:theme xmlns:a="http://schemas.openxmlformats.org/drawingml/2006/main" name="1_Computrain PP 2014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.SDV.41668.a4_v2.potx" id="{675E185B-93B3-4903-9ABB-25519CAA18E7}" vid="{CA64F266-BEAA-40B6-A673-E17B6139CADE}"/>
    </a:ext>
  </a:extLst>
</a:theme>
</file>

<file path=ppt/theme/theme4.xml><?xml version="1.0" encoding="utf-8"?>
<a:theme xmlns:a="http://schemas.openxmlformats.org/drawingml/2006/main" name="3_Aangepast ontwerp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.SDV.41668.a4_v2.potx" id="{675E185B-93B3-4903-9ABB-25519CAA18E7}" vid="{9AC4BC06-AE71-4FB5-B71E-BC5605F9285B}"/>
    </a:ext>
  </a:extLst>
</a:theme>
</file>

<file path=ppt/theme/theme5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2396</TotalTime>
  <Words>2858</Words>
  <Application>Microsoft Macintosh PowerPoint</Application>
  <PresentationFormat>Diavoorstelling (4:3)</PresentationFormat>
  <Paragraphs>570</Paragraphs>
  <Slides>54</Slides>
  <Notes>5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4</vt:i4>
      </vt:variant>
      <vt:variant>
        <vt:lpstr>Diatitels</vt:lpstr>
      </vt:variant>
      <vt:variant>
        <vt:i4>54</vt:i4>
      </vt:variant>
    </vt:vector>
  </HeadingPairs>
  <TitlesOfParts>
    <vt:vector size="63" baseType="lpstr">
      <vt:lpstr>Andale Mono</vt:lpstr>
      <vt:lpstr>Arial</vt:lpstr>
      <vt:lpstr>Calibri</vt:lpstr>
      <vt:lpstr>Consolas</vt:lpstr>
      <vt:lpstr>Times New Roman</vt:lpstr>
      <vt:lpstr>2_Aangepast ontwerp</vt:lpstr>
      <vt:lpstr>1_Aangepast ontwerp</vt:lpstr>
      <vt:lpstr>1_Computrain PP 2014</vt:lpstr>
      <vt:lpstr>3_Aangepast ontwerp</vt:lpstr>
      <vt:lpstr>PowerPoint-presentatie</vt:lpstr>
      <vt:lpstr>Javascript Fundamentals</vt:lpstr>
      <vt:lpstr>Javascript</vt:lpstr>
      <vt:lpstr>Script tag</vt:lpstr>
      <vt:lpstr>Output</vt:lpstr>
      <vt:lpstr>Oefening</vt:lpstr>
      <vt:lpstr>Variabelen</vt:lpstr>
      <vt:lpstr>Numerieke operatoren</vt:lpstr>
      <vt:lpstr>String concatenation</vt:lpstr>
      <vt:lpstr>Oefening</vt:lpstr>
      <vt:lpstr>PowerPoint-presentatie</vt:lpstr>
      <vt:lpstr>Beslissingsstructuren</vt:lpstr>
      <vt:lpstr>Switch statement</vt:lpstr>
      <vt:lpstr>Herhalingen</vt:lpstr>
      <vt:lpstr>Oefening</vt:lpstr>
      <vt:lpstr>Functies</vt:lpstr>
      <vt:lpstr>Scope</vt:lpstr>
      <vt:lpstr>Oefening</vt:lpstr>
      <vt:lpstr>Arrays</vt:lpstr>
      <vt:lpstr>For … Of</vt:lpstr>
      <vt:lpstr>Meerdimensionale arrays</vt:lpstr>
      <vt:lpstr>Oefening</vt:lpstr>
      <vt:lpstr>Objecten</vt:lpstr>
      <vt:lpstr>For … In</vt:lpstr>
      <vt:lpstr>Window Object Model</vt:lpstr>
      <vt:lpstr>Methods</vt:lpstr>
      <vt:lpstr>Oefening</vt:lpstr>
      <vt:lpstr>Document object model - DOM</vt:lpstr>
      <vt:lpstr>getElementById</vt:lpstr>
      <vt:lpstr>Oefening</vt:lpstr>
      <vt:lpstr>Events</vt:lpstr>
      <vt:lpstr>this</vt:lpstr>
      <vt:lpstr>Add event handler</vt:lpstr>
      <vt:lpstr>Oefening</vt:lpstr>
      <vt:lpstr>className</vt:lpstr>
      <vt:lpstr>Images</vt:lpstr>
      <vt:lpstr>Dynamisch koppelen</vt:lpstr>
      <vt:lpstr>Oefening</vt:lpstr>
      <vt:lpstr>String methoden</vt:lpstr>
      <vt:lpstr>Math methoden</vt:lpstr>
      <vt:lpstr>Datums</vt:lpstr>
      <vt:lpstr>Oefening </vt:lpstr>
      <vt:lpstr>Formulieren en validatie</vt:lpstr>
      <vt:lpstr>Oefening</vt:lpstr>
      <vt:lpstr>Regular Expressions</vt:lpstr>
      <vt:lpstr>Regular Expression</vt:lpstr>
      <vt:lpstr>Oefening</vt:lpstr>
      <vt:lpstr>Timers en javascript</vt:lpstr>
      <vt:lpstr>Oefening</vt:lpstr>
      <vt:lpstr>Fouten afvangen</vt:lpstr>
      <vt:lpstr>Oefening</vt:lpstr>
      <vt:lpstr>jQuery</vt:lpstr>
      <vt:lpstr>Oefening</vt:lpstr>
      <vt:lpstr>Cookies</vt:lpstr>
    </vt:vector>
  </TitlesOfParts>
  <Company>NCOI Opleidingsgroep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Drew Adamson</dc:creator>
  <cp:lastModifiedBy>Peter Anema</cp:lastModifiedBy>
  <cp:revision>164</cp:revision>
  <dcterms:created xsi:type="dcterms:W3CDTF">2016-02-23T12:59:52Z</dcterms:created>
  <dcterms:modified xsi:type="dcterms:W3CDTF">2022-04-03T08:47:46Z</dcterms:modified>
</cp:coreProperties>
</file>